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81" d="100"/>
          <a:sy n="181" d="100"/>
        </p:scale>
        <p:origin x="162" y="42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ca391433da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ca391433da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ca391433da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3ca391433da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3ca391433da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3ca391433da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3ca391433da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3ca391433da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3ca391433da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ca391433da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3ca391433da_0_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3ca391433da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ca391433da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3ca391433da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ca391433da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3ca391433da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13">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3"/>
        <p:cNvGrpSpPr/>
        <p:nvPr/>
      </p:nvGrpSpPr>
      <p:grpSpPr>
        <a:xfrm>
          <a:off x="0" y="0"/>
          <a:ext cx="0" cy="0"/>
          <a:chOff x="0" y="0"/>
          <a:chExt cx="0" cy="0"/>
        </a:xfrm>
      </p:grpSpPr>
      <p:sp>
        <p:nvSpPr>
          <p:cNvPr id="54" name="Google Shape;54;p13"/>
          <p:cNvSpPr txBox="1">
            <a:spLocks noGrp="1"/>
          </p:cNvSpPr>
          <p:nvPr>
            <p:ph type="title"/>
          </p:nvPr>
        </p:nvSpPr>
        <p:spPr>
          <a:xfrm>
            <a:off x="797572" y="1957800"/>
            <a:ext cx="6676193" cy="1227900"/>
          </a:xfrm>
          <a:prstGeom prst="rect">
            <a:avLst/>
          </a:prstGeom>
        </p:spPr>
        <p:txBody>
          <a:bodyPr spcFirstLastPara="1" wrap="square" lIns="91425" tIns="91425" rIns="91425" bIns="91425" anchor="ctr" anchorCtr="0">
            <a:noAutofit/>
          </a:bodyPr>
          <a:lstStyle/>
          <a:p>
            <a:pPr lvl="0">
              <a:buSzPts val="990"/>
            </a:pPr>
            <a:r>
              <a:rPr lang="en-US" i="1" dirty="0"/>
              <a:t>Response Curves and Action Inertia in Utility-Based NPC AI</a:t>
            </a:r>
            <a:endParaRPr b="1" dirty="0"/>
          </a:p>
        </p:txBody>
      </p:sp>
      <p:sp>
        <p:nvSpPr>
          <p:cNvPr id="55" name="Google Shape;55;p13"/>
          <p:cNvSpPr txBox="1"/>
          <p:nvPr/>
        </p:nvSpPr>
        <p:spPr>
          <a:xfrm>
            <a:off x="976372" y="3609660"/>
            <a:ext cx="5778560" cy="1227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dirty="0">
                <a:solidFill>
                  <a:schemeClr val="dk1"/>
                </a:solidFill>
              </a:rPr>
              <a:t>Wenjie Jiang</a:t>
            </a:r>
          </a:p>
          <a:p>
            <a:pPr marL="0" lvl="0" indent="0" algn="ctr" rtl="0">
              <a:spcBef>
                <a:spcPts val="0"/>
              </a:spcBef>
              <a:spcAft>
                <a:spcPts val="0"/>
              </a:spcAft>
              <a:buNone/>
            </a:pPr>
            <a:r>
              <a:rPr lang="en" sz="1800" dirty="0">
                <a:solidFill>
                  <a:schemeClr val="dk1"/>
                </a:solidFill>
              </a:rPr>
              <a:t>M.S. Computer Science, Cal State LA</a:t>
            </a:r>
          </a:p>
          <a:p>
            <a:pPr lvl="0" algn="ctr"/>
            <a:r>
              <a:rPr lang="en" sz="1800" dirty="0">
                <a:solidFill>
                  <a:schemeClr val="dk1"/>
                </a:solidFill>
              </a:rPr>
              <a:t>Advisor: Dr. </a:t>
            </a:r>
            <a:r>
              <a:rPr lang="en-US" sz="1800" dirty="0"/>
              <a:t>Navid Amini</a:t>
            </a:r>
            <a:endParaRPr lang="en" sz="1800" dirty="0">
              <a:solidFill>
                <a:schemeClr val="dk1"/>
              </a:solidFill>
            </a:endParaRPr>
          </a:p>
          <a:p>
            <a:pPr marL="0" lvl="0" indent="0" algn="ctr" rtl="0">
              <a:spcBef>
                <a:spcPts val="0"/>
              </a:spcBef>
              <a:spcAft>
                <a:spcPts val="0"/>
              </a:spcAft>
              <a:buNone/>
            </a:pPr>
            <a:r>
              <a:rPr lang="en" sz="1800" dirty="0">
                <a:solidFill>
                  <a:schemeClr val="dk1"/>
                </a:solidFill>
              </a:rPr>
              <a:t>April 2026</a:t>
            </a:r>
            <a:br>
              <a:rPr lang="en" sz="1100" b="1" dirty="0">
                <a:solidFill>
                  <a:schemeClr val="dk1"/>
                </a:solidFill>
              </a:rPr>
            </a:br>
            <a:endParaRPr sz="1100" b="1" dirty="0">
              <a:solidFill>
                <a:schemeClr val="dk1"/>
              </a:solidFill>
            </a:endParaRPr>
          </a:p>
        </p:txBody>
      </p:sp>
      <p:sp>
        <p:nvSpPr>
          <p:cNvPr id="2" name="TextBox 1">
            <a:extLst>
              <a:ext uri="{FF2B5EF4-FFF2-40B4-BE49-F238E27FC236}">
                <a16:creationId xmlns:a16="http://schemas.microsoft.com/office/drawing/2014/main" id="{0E884230-7B41-BD4A-41DF-A946B41DD84E}"/>
              </a:ext>
            </a:extLst>
          </p:cNvPr>
          <p:cNvSpPr txBox="1"/>
          <p:nvPr/>
        </p:nvSpPr>
        <p:spPr>
          <a:xfrm>
            <a:off x="1652910" y="3402284"/>
            <a:ext cx="3758025" cy="307777"/>
          </a:xfrm>
          <a:prstGeom prst="rect">
            <a:avLst/>
          </a:prstGeom>
          <a:noFill/>
        </p:spPr>
        <p:txBody>
          <a:bodyPr wrap="square" rtlCol="0">
            <a:spAutoFit/>
          </a:bodyPr>
          <a:lstStyle/>
          <a:p>
            <a:r>
              <a:rPr lang="en-US" i="1" dirty="0"/>
              <a:t>An experimental study of behavioral stability</a:t>
            </a:r>
            <a:endParaRPr lang="en-US" dirty="0"/>
          </a:p>
        </p:txBody>
      </p:sp>
      <p:sp>
        <p:nvSpPr>
          <p:cNvPr id="3" name="Slide Number Placeholder 2">
            <a:extLst>
              <a:ext uri="{FF2B5EF4-FFF2-40B4-BE49-F238E27FC236}">
                <a16:creationId xmlns:a16="http://schemas.microsoft.com/office/drawing/2014/main" id="{3873D03F-92B9-510A-81DF-8217A312126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a:t>
            </a:fld>
            <a:endParaRPr lang="e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460049" y="579775"/>
            <a:ext cx="6627871" cy="572700"/>
          </a:xfrm>
          <a:prstGeom prst="rect">
            <a:avLst/>
          </a:prstGeom>
        </p:spPr>
        <p:txBody>
          <a:bodyPr spcFirstLastPara="1" wrap="square" lIns="91425" tIns="91425" rIns="91425" bIns="91425" anchor="t" anchorCtr="0">
            <a:normAutofit fontScale="90000"/>
          </a:bodyPr>
          <a:lstStyle/>
          <a:p>
            <a:pPr lvl="0"/>
            <a:r>
              <a:rPr lang="en-US" dirty="0"/>
              <a:t>The Overall Project Scope and Objectives</a:t>
            </a:r>
            <a:endParaRPr dirty="0"/>
          </a:p>
        </p:txBody>
      </p:sp>
      <p:sp>
        <p:nvSpPr>
          <p:cNvPr id="61" name="Google Shape;61;p14"/>
          <p:cNvSpPr txBox="1">
            <a:spLocks noGrp="1"/>
          </p:cNvSpPr>
          <p:nvPr>
            <p:ph type="body" idx="1"/>
          </p:nvPr>
        </p:nvSpPr>
        <p:spPr>
          <a:xfrm>
            <a:off x="292925" y="1189950"/>
            <a:ext cx="5668800" cy="3382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688"/>
              <a:buFont typeface="Arial"/>
              <a:buNone/>
            </a:pPr>
            <a:r>
              <a:rPr lang="en" sz="1125" b="1" dirty="0">
                <a:solidFill>
                  <a:schemeClr val="dk1"/>
                </a:solidFill>
              </a:rPr>
              <a:t>Project Scope</a:t>
            </a:r>
            <a:endParaRPr sz="1125" b="1" dirty="0">
              <a:solidFill>
                <a:schemeClr val="dk1"/>
              </a:solidFill>
            </a:endParaRPr>
          </a:p>
          <a:p>
            <a:pPr marL="457200" lvl="0" indent="-300037" algn="l" rtl="0">
              <a:lnSpc>
                <a:spcPct val="150000"/>
              </a:lnSpc>
              <a:spcBef>
                <a:spcPts val="1200"/>
              </a:spcBef>
              <a:spcAft>
                <a:spcPts val="0"/>
              </a:spcAft>
              <a:buClr>
                <a:schemeClr val="dk1"/>
              </a:buClr>
              <a:buSzPts val="1125"/>
              <a:buChar char="●"/>
            </a:pPr>
            <a:r>
              <a:rPr lang="en" sz="1125" dirty="0">
                <a:solidFill>
                  <a:schemeClr val="dk1"/>
                </a:solidFill>
              </a:rPr>
              <a:t>Platform: Offline 2D domestic simulation in Unity</a:t>
            </a:r>
            <a:endParaRPr sz="1125" dirty="0">
              <a:solidFill>
                <a:schemeClr val="dk1"/>
              </a:solidFill>
            </a:endParaRPr>
          </a:p>
          <a:p>
            <a:pPr marL="457200" lvl="0" indent="-300037" algn="l" rtl="0">
              <a:lnSpc>
                <a:spcPct val="150000"/>
              </a:lnSpc>
              <a:spcBef>
                <a:spcPts val="0"/>
              </a:spcBef>
              <a:spcAft>
                <a:spcPts val="0"/>
              </a:spcAft>
              <a:buClr>
                <a:schemeClr val="dk1"/>
              </a:buClr>
              <a:buSzPts val="1125"/>
              <a:buChar char="●"/>
            </a:pPr>
            <a:r>
              <a:rPr lang="en" sz="1125" dirty="0">
                <a:solidFill>
                  <a:schemeClr val="dk1"/>
                </a:solidFill>
              </a:rPr>
              <a:t>Architecture: Decentralized "Pull/Scanner" system (proactive agents)</a:t>
            </a:r>
            <a:endParaRPr sz="1125" dirty="0">
              <a:solidFill>
                <a:schemeClr val="dk1"/>
              </a:solidFill>
            </a:endParaRPr>
          </a:p>
          <a:p>
            <a:pPr marL="457200" lvl="0" indent="-300037" algn="l" rtl="0">
              <a:lnSpc>
                <a:spcPct val="150000"/>
              </a:lnSpc>
              <a:spcBef>
                <a:spcPts val="0"/>
              </a:spcBef>
              <a:spcAft>
                <a:spcPts val="0"/>
              </a:spcAft>
              <a:buClr>
                <a:schemeClr val="dk1"/>
              </a:buClr>
              <a:buSzPts val="1125"/>
              <a:buChar char="●"/>
            </a:pPr>
            <a:r>
              <a:rPr lang="en" sz="1125" dirty="0">
                <a:solidFill>
                  <a:schemeClr val="dk1"/>
                </a:solidFill>
              </a:rPr>
              <a:t>Comparison: Utility-based (Fluid) vs. Threshold-based (Rigid) Agents</a:t>
            </a:r>
            <a:endParaRPr sz="1125" dirty="0">
              <a:solidFill>
                <a:schemeClr val="dk1"/>
              </a:solidFill>
            </a:endParaRPr>
          </a:p>
          <a:p>
            <a:pPr marL="457200" lvl="0" indent="-300037" algn="l" rtl="0">
              <a:lnSpc>
                <a:spcPct val="150000"/>
              </a:lnSpc>
              <a:spcBef>
                <a:spcPts val="0"/>
              </a:spcBef>
              <a:spcAft>
                <a:spcPts val="0"/>
              </a:spcAft>
              <a:buClr>
                <a:schemeClr val="dk1"/>
              </a:buClr>
              <a:buSzPts val="1125"/>
              <a:buChar char="●"/>
            </a:pPr>
            <a:r>
              <a:rPr lang="en" sz="1125" dirty="0">
                <a:solidFill>
                  <a:schemeClr val="dk1"/>
                </a:solidFill>
              </a:rPr>
              <a:t>Context: Low-stakes, "slice-of-life" daily routines</a:t>
            </a:r>
            <a:endParaRPr sz="1125" dirty="0">
              <a:solidFill>
                <a:schemeClr val="dk1"/>
              </a:solidFill>
            </a:endParaRPr>
          </a:p>
          <a:p>
            <a:pPr marL="0" lvl="0" indent="0" algn="l" rtl="0">
              <a:lnSpc>
                <a:spcPct val="150000"/>
              </a:lnSpc>
              <a:spcBef>
                <a:spcPts val="1200"/>
              </a:spcBef>
              <a:spcAft>
                <a:spcPts val="0"/>
              </a:spcAft>
              <a:buClr>
                <a:schemeClr val="dk1"/>
              </a:buClr>
              <a:buSzPts val="688"/>
              <a:buFont typeface="Arial"/>
              <a:buNone/>
            </a:pPr>
            <a:r>
              <a:rPr lang="en" sz="1125" b="1" dirty="0">
                <a:solidFill>
                  <a:schemeClr val="dk1"/>
                </a:solidFill>
              </a:rPr>
              <a:t>Objectives</a:t>
            </a:r>
            <a:endParaRPr sz="1125" b="1" dirty="0">
              <a:solidFill>
                <a:schemeClr val="dk1"/>
              </a:solidFill>
            </a:endParaRPr>
          </a:p>
          <a:p>
            <a:pPr marL="457200" lvl="0" indent="-300037" algn="l" rtl="0">
              <a:lnSpc>
                <a:spcPct val="150000"/>
              </a:lnSpc>
              <a:spcBef>
                <a:spcPts val="1200"/>
              </a:spcBef>
              <a:spcAft>
                <a:spcPts val="0"/>
              </a:spcAft>
              <a:buClr>
                <a:schemeClr val="dk1"/>
              </a:buClr>
              <a:buSzPts val="1125"/>
              <a:buChar char="●"/>
            </a:pPr>
            <a:r>
              <a:rPr lang="en" sz="1125" dirty="0">
                <a:solidFill>
                  <a:schemeClr val="dk1"/>
                </a:solidFill>
              </a:rPr>
              <a:t>Realism: Achieve "AI Town" style behavior using lightweight math (no LLMs)</a:t>
            </a:r>
            <a:endParaRPr sz="1125" dirty="0">
              <a:solidFill>
                <a:schemeClr val="dk1"/>
              </a:solidFill>
            </a:endParaRPr>
          </a:p>
          <a:p>
            <a:pPr marL="457200" lvl="0" indent="-300037" algn="l" rtl="0">
              <a:lnSpc>
                <a:spcPct val="150000"/>
              </a:lnSpc>
              <a:spcBef>
                <a:spcPts val="0"/>
              </a:spcBef>
              <a:spcAft>
                <a:spcPts val="0"/>
              </a:spcAft>
              <a:buClr>
                <a:schemeClr val="dk1"/>
              </a:buClr>
              <a:buSzPts val="1125"/>
              <a:buChar char="●"/>
            </a:pPr>
            <a:r>
              <a:rPr lang="en" sz="1125" dirty="0">
                <a:solidFill>
                  <a:schemeClr val="dk1"/>
                </a:solidFill>
              </a:rPr>
              <a:t>Stability: Quantify and reduce "Behavioral Jitter" (Action Thrashing)</a:t>
            </a:r>
            <a:endParaRPr sz="1125" dirty="0">
              <a:solidFill>
                <a:schemeClr val="dk1"/>
              </a:solidFill>
            </a:endParaRPr>
          </a:p>
          <a:p>
            <a:pPr marL="457200" lvl="0" indent="-300037" algn="l" rtl="0">
              <a:lnSpc>
                <a:spcPct val="150000"/>
              </a:lnSpc>
              <a:spcBef>
                <a:spcPts val="0"/>
              </a:spcBef>
              <a:spcAft>
                <a:spcPts val="0"/>
              </a:spcAft>
              <a:buClr>
                <a:schemeClr val="dk1"/>
              </a:buClr>
              <a:buSzPts val="1125"/>
              <a:buChar char="●"/>
            </a:pPr>
            <a:r>
              <a:rPr lang="en" sz="1125" dirty="0">
                <a:solidFill>
                  <a:schemeClr val="dk1"/>
                </a:solidFill>
              </a:rPr>
              <a:t>Autonomy: Show emergent adaptability to removed/obstructed resources</a:t>
            </a:r>
            <a:endParaRPr sz="1125" dirty="0">
              <a:solidFill>
                <a:schemeClr val="dk1"/>
              </a:solidFill>
            </a:endParaRPr>
          </a:p>
          <a:p>
            <a:pPr marL="457200" lvl="0" indent="-300037" algn="l" rtl="0">
              <a:lnSpc>
                <a:spcPct val="150000"/>
              </a:lnSpc>
              <a:spcBef>
                <a:spcPts val="0"/>
              </a:spcBef>
              <a:spcAft>
                <a:spcPts val="0"/>
              </a:spcAft>
              <a:buClr>
                <a:schemeClr val="dk1"/>
              </a:buClr>
              <a:buSzPts val="1125"/>
              <a:buChar char="●"/>
            </a:pPr>
            <a:r>
              <a:rPr lang="en" sz="1125" dirty="0">
                <a:solidFill>
                  <a:schemeClr val="dk1"/>
                </a:solidFill>
              </a:rPr>
              <a:t>Scalability: Extensible framework via ScriptableObject architecture</a:t>
            </a:r>
            <a:endParaRPr sz="1125" dirty="0">
              <a:solidFill>
                <a:schemeClr val="dk1"/>
              </a:solidFill>
            </a:endParaRPr>
          </a:p>
          <a:p>
            <a:pPr marL="0" lvl="0" indent="0" algn="l" rtl="0">
              <a:spcBef>
                <a:spcPts val="1200"/>
              </a:spcBef>
              <a:spcAft>
                <a:spcPts val="1200"/>
              </a:spcAft>
              <a:buSzPts val="688"/>
              <a:buNone/>
            </a:pPr>
            <a:endParaRPr sz="1125" dirty="0"/>
          </a:p>
        </p:txBody>
      </p:sp>
      <p:pic>
        <p:nvPicPr>
          <p:cNvPr id="62" name="Google Shape;62;p14"/>
          <p:cNvPicPr preferRelativeResize="0"/>
          <p:nvPr/>
        </p:nvPicPr>
        <p:blipFill>
          <a:blip r:embed="rId3">
            <a:alphaModFix/>
          </a:blip>
          <a:stretch>
            <a:fillRect/>
          </a:stretch>
        </p:blipFill>
        <p:spPr>
          <a:xfrm>
            <a:off x="5840400" y="1152475"/>
            <a:ext cx="2987100" cy="3181250"/>
          </a:xfrm>
          <a:prstGeom prst="rect">
            <a:avLst/>
          </a:prstGeom>
          <a:noFill/>
          <a:ln>
            <a:noFill/>
          </a:ln>
        </p:spPr>
      </p:pic>
      <p:sp>
        <p:nvSpPr>
          <p:cNvPr id="2" name="Slide Number Placeholder 1">
            <a:extLst>
              <a:ext uri="{FF2B5EF4-FFF2-40B4-BE49-F238E27FC236}">
                <a16:creationId xmlns:a16="http://schemas.microsoft.com/office/drawing/2014/main" id="{795F142E-C052-8113-C253-EA9FB322B1A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a:t>
            </a:fld>
            <a:endParaRPr lang="e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5"/>
          <p:cNvSpPr txBox="1">
            <a:spLocks noGrp="1"/>
          </p:cNvSpPr>
          <p:nvPr>
            <p:ph type="title"/>
          </p:nvPr>
        </p:nvSpPr>
        <p:spPr>
          <a:xfrm>
            <a:off x="472525" y="579775"/>
            <a:ext cx="8520600" cy="572700"/>
          </a:xfrm>
          <a:prstGeom prst="rect">
            <a:avLst/>
          </a:prstGeom>
        </p:spPr>
        <p:txBody>
          <a:bodyPr spcFirstLastPara="1" wrap="square" lIns="91425" tIns="91425" rIns="91425" bIns="91425" anchor="t" anchorCtr="0">
            <a:normAutofit fontScale="90000"/>
          </a:bodyPr>
          <a:lstStyle/>
          <a:p>
            <a:pPr lvl="0"/>
            <a:r>
              <a:rPr lang="en-US" dirty="0"/>
              <a:t>Proposed Methodology and Technical Approach</a:t>
            </a:r>
            <a:endParaRPr dirty="0"/>
          </a:p>
        </p:txBody>
      </p:sp>
      <p:sp>
        <p:nvSpPr>
          <p:cNvPr id="68" name="Google Shape;68;p15"/>
          <p:cNvSpPr txBox="1">
            <a:spLocks noGrp="1"/>
          </p:cNvSpPr>
          <p:nvPr>
            <p:ph type="body" idx="1"/>
          </p:nvPr>
        </p:nvSpPr>
        <p:spPr>
          <a:xfrm>
            <a:off x="388850" y="998575"/>
            <a:ext cx="5670000" cy="3416400"/>
          </a:xfrm>
          <a:prstGeom prst="rect">
            <a:avLst/>
          </a:prstGeom>
        </p:spPr>
        <p:txBody>
          <a:bodyPr spcFirstLastPara="1" wrap="square" lIns="91425" tIns="91425" rIns="91425" bIns="91425" anchor="t" anchorCtr="0">
            <a:normAutofit fontScale="25000" lnSpcReduction="20000"/>
          </a:bodyPr>
          <a:lstStyle/>
          <a:p>
            <a:pPr marL="0" lvl="0" indent="0" algn="l" rtl="0">
              <a:lnSpc>
                <a:spcPct val="115000"/>
              </a:lnSpc>
              <a:spcBef>
                <a:spcPts val="0"/>
              </a:spcBef>
              <a:spcAft>
                <a:spcPts val="0"/>
              </a:spcAft>
              <a:buClr>
                <a:schemeClr val="dk1"/>
              </a:buClr>
              <a:buSzPct val="26190"/>
              <a:buFont typeface="Arial"/>
              <a:buNone/>
            </a:pPr>
            <a:r>
              <a:rPr lang="en" sz="4200" b="1">
                <a:solidFill>
                  <a:schemeClr val="dk1"/>
                </a:solidFill>
              </a:rPr>
              <a:t>1.</a:t>
            </a:r>
            <a:r>
              <a:rPr lang="en" sz="4289" b="1">
                <a:solidFill>
                  <a:schemeClr val="dk1"/>
                </a:solidFill>
              </a:rPr>
              <a:t> Pull-based Perception</a:t>
            </a:r>
            <a:endParaRPr sz="4289" b="1">
              <a:solidFill>
                <a:schemeClr val="dk1"/>
              </a:solidFill>
            </a:endParaRPr>
          </a:p>
          <a:p>
            <a:pPr marL="457200" lvl="0" indent="-295275" algn="l" rtl="0">
              <a:lnSpc>
                <a:spcPct val="115000"/>
              </a:lnSpc>
              <a:spcBef>
                <a:spcPts val="1200"/>
              </a:spcBef>
              <a:spcAft>
                <a:spcPts val="0"/>
              </a:spcAft>
              <a:buClr>
                <a:schemeClr val="dk1"/>
              </a:buClr>
              <a:buSzPct val="100000"/>
              <a:buChar char="●"/>
            </a:pPr>
            <a:r>
              <a:rPr lang="en" sz="4200">
                <a:solidFill>
                  <a:schemeClr val="dk1"/>
                </a:solidFill>
              </a:rPr>
              <a:t>Proactive Agents: Instead of objects "broadcasting" to the agent, the agent actively scans the world</a:t>
            </a:r>
            <a:endParaRPr sz="4200">
              <a:solidFill>
                <a:schemeClr val="dk1"/>
              </a:solidFill>
            </a:endParaRPr>
          </a:p>
          <a:p>
            <a:pPr marL="0" lvl="0" indent="0" algn="l" rtl="0">
              <a:lnSpc>
                <a:spcPct val="115000"/>
              </a:lnSpc>
              <a:spcBef>
                <a:spcPts val="1200"/>
              </a:spcBef>
              <a:spcAft>
                <a:spcPts val="0"/>
              </a:spcAft>
              <a:buClr>
                <a:schemeClr val="dk1"/>
              </a:buClr>
              <a:buSzPct val="25643"/>
              <a:buFont typeface="Arial"/>
              <a:buNone/>
            </a:pPr>
            <a:r>
              <a:rPr lang="en" sz="4289" b="1">
                <a:solidFill>
                  <a:schemeClr val="dk1"/>
                </a:solidFill>
              </a:rPr>
              <a:t>2. Mathematical Decision Brain</a:t>
            </a:r>
            <a:endParaRPr sz="4289" b="1">
              <a:solidFill>
                <a:schemeClr val="dk1"/>
              </a:solidFill>
            </a:endParaRPr>
          </a:p>
          <a:p>
            <a:pPr marL="457200" lvl="0" indent="-296696" algn="l" rtl="0">
              <a:lnSpc>
                <a:spcPct val="150000"/>
              </a:lnSpc>
              <a:spcBef>
                <a:spcPts val="1200"/>
              </a:spcBef>
              <a:spcAft>
                <a:spcPts val="0"/>
              </a:spcAft>
              <a:buClr>
                <a:schemeClr val="dk1"/>
              </a:buClr>
              <a:buSzPct val="100000"/>
              <a:buChar char="●"/>
            </a:pPr>
            <a:r>
              <a:rPr lang="en" sz="4289">
                <a:solidFill>
                  <a:schemeClr val="dk1"/>
                </a:solidFill>
              </a:rPr>
              <a:t>Utility Scoring: Uses Non-linear Gradients (S-curves) to map need levels to action desire</a:t>
            </a:r>
            <a:endParaRPr sz="4289">
              <a:solidFill>
                <a:schemeClr val="dk1"/>
              </a:solidFill>
            </a:endParaRPr>
          </a:p>
          <a:p>
            <a:pPr marL="457200" lvl="0" indent="-295275" algn="l" rtl="0">
              <a:lnSpc>
                <a:spcPct val="150000"/>
              </a:lnSpc>
              <a:spcBef>
                <a:spcPts val="0"/>
              </a:spcBef>
              <a:spcAft>
                <a:spcPts val="0"/>
              </a:spcAft>
              <a:buClr>
                <a:schemeClr val="dk1"/>
              </a:buClr>
              <a:buSzPct val="100000"/>
              <a:buChar char="●"/>
            </a:pPr>
            <a:r>
              <a:rPr lang="en" sz="4200">
                <a:solidFill>
                  <a:schemeClr val="dk1"/>
                </a:solidFill>
              </a:rPr>
              <a:t>Normalization: All inputs (Hunger, Energy) are mapped to a 0.0 - 1.0 scale for fair comparison</a:t>
            </a:r>
            <a:endParaRPr sz="4200">
              <a:solidFill>
                <a:schemeClr val="dk1"/>
              </a:solidFill>
            </a:endParaRPr>
          </a:p>
          <a:p>
            <a:pPr marL="457200" lvl="0" indent="-295275" algn="l" rtl="0">
              <a:lnSpc>
                <a:spcPct val="150000"/>
              </a:lnSpc>
              <a:spcBef>
                <a:spcPts val="0"/>
              </a:spcBef>
              <a:spcAft>
                <a:spcPts val="0"/>
              </a:spcAft>
              <a:buClr>
                <a:schemeClr val="dk1"/>
              </a:buClr>
              <a:buSzPct val="100000"/>
              <a:buChar char="●"/>
            </a:pPr>
            <a:r>
              <a:rPr lang="en" sz="4200">
                <a:solidFill>
                  <a:schemeClr val="dk1"/>
                </a:solidFill>
              </a:rPr>
              <a:t>Action Inertia: A mathematical weight added to the current task to ensure commitment and prevent jitter</a:t>
            </a:r>
            <a:endParaRPr sz="4289">
              <a:solidFill>
                <a:schemeClr val="dk1"/>
              </a:solidFill>
            </a:endParaRPr>
          </a:p>
          <a:p>
            <a:pPr marL="0" lvl="0" indent="0" algn="l" rtl="0">
              <a:lnSpc>
                <a:spcPct val="115000"/>
              </a:lnSpc>
              <a:spcBef>
                <a:spcPts val="1200"/>
              </a:spcBef>
              <a:spcAft>
                <a:spcPts val="0"/>
              </a:spcAft>
              <a:buClr>
                <a:schemeClr val="dk1"/>
              </a:buClr>
              <a:buSzPct val="25643"/>
              <a:buFont typeface="Arial"/>
              <a:buNone/>
            </a:pPr>
            <a:r>
              <a:rPr lang="en" sz="4289" b="1">
                <a:solidFill>
                  <a:schemeClr val="dk1"/>
                </a:solidFill>
              </a:rPr>
              <a:t>3. ScriptableObject-Driven Framework</a:t>
            </a:r>
            <a:endParaRPr sz="4289" b="1">
              <a:solidFill>
                <a:schemeClr val="dk1"/>
              </a:solidFill>
            </a:endParaRPr>
          </a:p>
          <a:p>
            <a:pPr marL="457200" lvl="0" indent="-296696" algn="l" rtl="0">
              <a:lnSpc>
                <a:spcPct val="150000"/>
              </a:lnSpc>
              <a:spcBef>
                <a:spcPts val="1200"/>
              </a:spcBef>
              <a:spcAft>
                <a:spcPts val="0"/>
              </a:spcAft>
              <a:buClr>
                <a:schemeClr val="dk1"/>
              </a:buClr>
              <a:buSzPct val="100000"/>
              <a:buChar char="●"/>
            </a:pPr>
            <a:r>
              <a:rPr lang="en" sz="4289">
                <a:solidFill>
                  <a:schemeClr val="dk1"/>
                </a:solidFill>
              </a:rPr>
              <a:t>Architectural Decoupling: Behavioral data (Needs, Curves) and Object data are stored as assets, not hard-coded in C#</a:t>
            </a:r>
            <a:endParaRPr sz="4289">
              <a:solidFill>
                <a:schemeClr val="dk1"/>
              </a:solidFill>
            </a:endParaRPr>
          </a:p>
          <a:p>
            <a:pPr marL="457200" lvl="0" indent="-296696" algn="l" rtl="0">
              <a:lnSpc>
                <a:spcPct val="150000"/>
              </a:lnSpc>
              <a:spcBef>
                <a:spcPts val="0"/>
              </a:spcBef>
              <a:spcAft>
                <a:spcPts val="0"/>
              </a:spcAft>
              <a:buClr>
                <a:schemeClr val="dk1"/>
              </a:buClr>
              <a:buSzPct val="100000"/>
              <a:buChar char="●"/>
            </a:pPr>
            <a:r>
              <a:rPr lang="en" sz="4289">
                <a:solidFill>
                  <a:schemeClr val="dk1"/>
                </a:solidFill>
              </a:rPr>
              <a:t>Extensibility: New interactions (e.g., Computer, TV) are added by creating new data files, requiring zero code refactoring</a:t>
            </a:r>
            <a:endParaRPr sz="4289">
              <a:solidFill>
                <a:schemeClr val="dk1"/>
              </a:solidFill>
            </a:endParaRPr>
          </a:p>
          <a:p>
            <a:pPr marL="0" lvl="0" indent="0" algn="l" rtl="0">
              <a:spcBef>
                <a:spcPts val="1200"/>
              </a:spcBef>
              <a:spcAft>
                <a:spcPts val="1200"/>
              </a:spcAft>
              <a:buNone/>
            </a:pPr>
            <a:endParaRPr sz="2550"/>
          </a:p>
        </p:txBody>
      </p:sp>
      <p:pic>
        <p:nvPicPr>
          <p:cNvPr id="69" name="Google Shape;69;p15"/>
          <p:cNvPicPr preferRelativeResize="0"/>
          <p:nvPr/>
        </p:nvPicPr>
        <p:blipFill>
          <a:blip r:embed="rId3">
            <a:alphaModFix/>
          </a:blip>
          <a:stretch>
            <a:fillRect/>
          </a:stretch>
        </p:blipFill>
        <p:spPr>
          <a:xfrm>
            <a:off x="7899875" y="4224163"/>
            <a:ext cx="1128231" cy="572700"/>
          </a:xfrm>
          <a:prstGeom prst="rect">
            <a:avLst/>
          </a:prstGeom>
          <a:noFill/>
          <a:ln>
            <a:noFill/>
          </a:ln>
        </p:spPr>
      </p:pic>
      <p:pic>
        <p:nvPicPr>
          <p:cNvPr id="70" name="Google Shape;70;p15"/>
          <p:cNvPicPr preferRelativeResize="0"/>
          <p:nvPr/>
        </p:nvPicPr>
        <p:blipFill>
          <a:blip r:embed="rId4">
            <a:alphaModFix/>
          </a:blip>
          <a:stretch>
            <a:fillRect/>
          </a:stretch>
        </p:blipFill>
        <p:spPr>
          <a:xfrm>
            <a:off x="6781949" y="2095187"/>
            <a:ext cx="1372775" cy="2109375"/>
          </a:xfrm>
          <a:prstGeom prst="rect">
            <a:avLst/>
          </a:prstGeom>
          <a:noFill/>
          <a:ln>
            <a:noFill/>
          </a:ln>
        </p:spPr>
      </p:pic>
      <p:cxnSp>
        <p:nvCxnSpPr>
          <p:cNvPr id="71" name="Google Shape;71;p15"/>
          <p:cNvCxnSpPr/>
          <p:nvPr/>
        </p:nvCxnSpPr>
        <p:spPr>
          <a:xfrm>
            <a:off x="5638862" y="2805350"/>
            <a:ext cx="1063500" cy="119100"/>
          </a:xfrm>
          <a:prstGeom prst="straightConnector1">
            <a:avLst/>
          </a:prstGeom>
          <a:noFill/>
          <a:ln w="9525" cap="flat" cmpd="sng">
            <a:solidFill>
              <a:schemeClr val="dk2"/>
            </a:solidFill>
            <a:prstDash val="solid"/>
            <a:round/>
            <a:headEnd type="none" w="med" len="med"/>
            <a:tailEnd type="triangle" w="med" len="med"/>
          </a:ln>
        </p:spPr>
      </p:cxnSp>
      <p:cxnSp>
        <p:nvCxnSpPr>
          <p:cNvPr id="72" name="Google Shape;72;p15"/>
          <p:cNvCxnSpPr/>
          <p:nvPr/>
        </p:nvCxnSpPr>
        <p:spPr>
          <a:xfrm>
            <a:off x="5603925" y="4113750"/>
            <a:ext cx="639000" cy="238800"/>
          </a:xfrm>
          <a:prstGeom prst="straightConnector1">
            <a:avLst/>
          </a:prstGeom>
          <a:noFill/>
          <a:ln w="9525" cap="flat" cmpd="sng">
            <a:solidFill>
              <a:schemeClr val="dk2"/>
            </a:solidFill>
            <a:prstDash val="solid"/>
            <a:round/>
            <a:headEnd type="none" w="med" len="med"/>
            <a:tailEnd type="triangle" w="med" len="med"/>
          </a:ln>
        </p:spPr>
      </p:cxnSp>
      <p:pic>
        <p:nvPicPr>
          <p:cNvPr id="73" name="Google Shape;73;p15"/>
          <p:cNvPicPr preferRelativeResize="0"/>
          <p:nvPr/>
        </p:nvPicPr>
        <p:blipFill>
          <a:blip r:embed="rId5">
            <a:alphaModFix/>
          </a:blip>
          <a:stretch>
            <a:fillRect/>
          </a:stretch>
        </p:blipFill>
        <p:spPr>
          <a:xfrm>
            <a:off x="6457075" y="1092295"/>
            <a:ext cx="2038400" cy="934267"/>
          </a:xfrm>
          <a:prstGeom prst="rect">
            <a:avLst/>
          </a:prstGeom>
          <a:noFill/>
          <a:ln>
            <a:noFill/>
          </a:ln>
        </p:spPr>
      </p:pic>
      <p:cxnSp>
        <p:nvCxnSpPr>
          <p:cNvPr id="74" name="Google Shape;74;p15"/>
          <p:cNvCxnSpPr/>
          <p:nvPr/>
        </p:nvCxnSpPr>
        <p:spPr>
          <a:xfrm rot="10800000" flipH="1">
            <a:off x="5862800" y="1385300"/>
            <a:ext cx="510600" cy="90900"/>
          </a:xfrm>
          <a:prstGeom prst="straightConnector1">
            <a:avLst/>
          </a:prstGeom>
          <a:noFill/>
          <a:ln w="9525" cap="flat" cmpd="sng">
            <a:solidFill>
              <a:schemeClr val="dk2"/>
            </a:solidFill>
            <a:prstDash val="solid"/>
            <a:round/>
            <a:headEnd type="none" w="med" len="med"/>
            <a:tailEnd type="triangle" w="med" len="med"/>
          </a:ln>
        </p:spPr>
      </p:cxnSp>
      <p:pic>
        <p:nvPicPr>
          <p:cNvPr id="75" name="Google Shape;75;p15"/>
          <p:cNvPicPr preferRelativeResize="0"/>
          <p:nvPr/>
        </p:nvPicPr>
        <p:blipFill>
          <a:blip r:embed="rId6">
            <a:alphaModFix/>
          </a:blip>
          <a:stretch>
            <a:fillRect/>
          </a:stretch>
        </p:blipFill>
        <p:spPr>
          <a:xfrm>
            <a:off x="6125576" y="4482025"/>
            <a:ext cx="1739325" cy="484650"/>
          </a:xfrm>
          <a:prstGeom prst="rect">
            <a:avLst/>
          </a:prstGeom>
          <a:noFill/>
          <a:ln>
            <a:noFill/>
          </a:ln>
        </p:spPr>
      </p:pic>
      <p:sp>
        <p:nvSpPr>
          <p:cNvPr id="2" name="Slide Number Placeholder 1">
            <a:extLst>
              <a:ext uri="{FF2B5EF4-FFF2-40B4-BE49-F238E27FC236}">
                <a16:creationId xmlns:a16="http://schemas.microsoft.com/office/drawing/2014/main" id="{FB34277A-7D1E-B9EA-887B-DB85E75D16C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a:t>
            </a:fld>
            <a:endParaRPr lang="e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6"/>
          <p:cNvSpPr txBox="1">
            <a:spLocks noGrp="1"/>
          </p:cNvSpPr>
          <p:nvPr>
            <p:ph type="title"/>
          </p:nvPr>
        </p:nvSpPr>
        <p:spPr>
          <a:xfrm>
            <a:off x="409325" y="605850"/>
            <a:ext cx="8520600" cy="572700"/>
          </a:xfrm>
          <a:prstGeom prst="rect">
            <a:avLst/>
          </a:prstGeom>
        </p:spPr>
        <p:txBody>
          <a:bodyPr spcFirstLastPara="1" wrap="square" lIns="91425" tIns="91425" rIns="91425" bIns="91425" anchor="t" anchorCtr="0">
            <a:normAutofit fontScale="90000"/>
          </a:bodyPr>
          <a:lstStyle/>
          <a:p>
            <a:pPr lvl="0"/>
            <a:r>
              <a:rPr lang="en-US" dirty="0"/>
              <a:t>Expected Challenges and Risks</a:t>
            </a:r>
            <a:endParaRPr dirty="0"/>
          </a:p>
        </p:txBody>
      </p:sp>
      <p:sp>
        <p:nvSpPr>
          <p:cNvPr id="81" name="Google Shape;81;p16"/>
          <p:cNvSpPr txBox="1">
            <a:spLocks noGrp="1"/>
          </p:cNvSpPr>
          <p:nvPr>
            <p:ph type="body" idx="1"/>
          </p:nvPr>
        </p:nvSpPr>
        <p:spPr>
          <a:xfrm>
            <a:off x="312225" y="1178550"/>
            <a:ext cx="5190600" cy="3416400"/>
          </a:xfrm>
          <a:prstGeom prst="rect">
            <a:avLst/>
          </a:prstGeom>
        </p:spPr>
        <p:txBody>
          <a:bodyPr spcFirstLastPara="1" wrap="square" lIns="91425" tIns="91425" rIns="91425" bIns="91425" anchor="t" anchorCtr="0">
            <a:normAutofit fontScale="85000" lnSpcReduction="10000"/>
          </a:bodyPr>
          <a:lstStyle/>
          <a:p>
            <a:pPr marL="457200" lvl="0" indent="-287972" algn="l" rtl="0">
              <a:lnSpc>
                <a:spcPct val="200000"/>
              </a:lnSpc>
              <a:spcBef>
                <a:spcPts val="0"/>
              </a:spcBef>
              <a:spcAft>
                <a:spcPts val="0"/>
              </a:spcAft>
              <a:buClr>
                <a:schemeClr val="dk1"/>
              </a:buClr>
              <a:buSzPct val="100000"/>
              <a:buAutoNum type="arabicPeriod"/>
            </a:pPr>
            <a:r>
              <a:rPr lang="en" sz="1100" b="1">
                <a:solidFill>
                  <a:schemeClr val="dk1"/>
                </a:solidFill>
              </a:rPr>
              <a:t>Environmental Scalability (Pathfinding):</a:t>
            </a:r>
            <a:r>
              <a:rPr lang="en" sz="1100">
                <a:solidFill>
                  <a:schemeClr val="dk1"/>
                </a:solidFill>
              </a:rPr>
              <a:t> Currently, the agent operates in a single-room "Greybox." A major challenge will be ensuring robust navigation as the map scales to a multi-room house with complex obstacles (e.g., doors, corridors, and furniture)</a:t>
            </a:r>
            <a:endParaRPr sz="1100">
              <a:solidFill>
                <a:schemeClr val="dk1"/>
              </a:solidFill>
            </a:endParaRPr>
          </a:p>
          <a:p>
            <a:pPr marL="457200" lvl="0" indent="-287972" algn="l" rtl="0">
              <a:lnSpc>
                <a:spcPct val="200000"/>
              </a:lnSpc>
              <a:spcBef>
                <a:spcPts val="0"/>
              </a:spcBef>
              <a:spcAft>
                <a:spcPts val="0"/>
              </a:spcAft>
              <a:buClr>
                <a:schemeClr val="dk1"/>
              </a:buClr>
              <a:buSzPct val="100000"/>
              <a:buAutoNum type="arabicPeriod"/>
            </a:pPr>
            <a:r>
              <a:rPr lang="en" sz="1100" b="1">
                <a:solidFill>
                  <a:schemeClr val="dk1"/>
                </a:solidFill>
              </a:rPr>
              <a:t>Behavioral Commitment vs.Survival:</a:t>
            </a:r>
            <a:r>
              <a:rPr lang="en" sz="1100">
                <a:solidFill>
                  <a:schemeClr val="dk1"/>
                </a:solidFill>
              </a:rPr>
              <a:t> Balancing "Action Inertia" to prevent behavioral jitter while ensuring agents can interrupt long-duration tasks (like sleeping) to respond to survival emergencies (like starvation)</a:t>
            </a:r>
            <a:endParaRPr sz="1100">
              <a:solidFill>
                <a:schemeClr val="dk1"/>
              </a:solidFill>
            </a:endParaRPr>
          </a:p>
          <a:p>
            <a:pPr marL="457200" lvl="0" indent="-287972" algn="l" rtl="0">
              <a:lnSpc>
                <a:spcPct val="200000"/>
              </a:lnSpc>
              <a:spcBef>
                <a:spcPts val="0"/>
              </a:spcBef>
              <a:spcAft>
                <a:spcPts val="0"/>
              </a:spcAft>
              <a:buClr>
                <a:schemeClr val="dk1"/>
              </a:buClr>
              <a:buSzPct val="100000"/>
              <a:buAutoNum type="arabicPeriod"/>
            </a:pPr>
            <a:r>
              <a:rPr lang="en" sz="1100" b="1">
                <a:solidFill>
                  <a:schemeClr val="dk1"/>
                </a:solidFill>
              </a:rPr>
              <a:t>Systemic Parameter Equilibrium:</a:t>
            </a:r>
            <a:r>
              <a:rPr lang="en" sz="1100">
                <a:solidFill>
                  <a:schemeClr val="dk1"/>
                </a:solidFill>
              </a:rPr>
              <a:t> Finding the "Mathematical Equilibrium" for decay and restoration rates. The challenge is balancing these numbers so that agents have time for "peaceful" life routines rather than being stuck in a perpetual survival loop</a:t>
            </a:r>
            <a:endParaRPr sz="1100">
              <a:solidFill>
                <a:schemeClr val="dk1"/>
              </a:solidFill>
            </a:endParaRPr>
          </a:p>
          <a:p>
            <a:pPr marL="457200" lvl="0" indent="-287972" algn="l" rtl="0">
              <a:lnSpc>
                <a:spcPct val="200000"/>
              </a:lnSpc>
              <a:spcBef>
                <a:spcPts val="0"/>
              </a:spcBef>
              <a:spcAft>
                <a:spcPts val="0"/>
              </a:spcAft>
              <a:buClr>
                <a:schemeClr val="dk1"/>
              </a:buClr>
              <a:buSzPct val="100000"/>
              <a:buAutoNum type="arabicPeriod"/>
            </a:pPr>
            <a:r>
              <a:rPr lang="en" sz="1100" b="1">
                <a:solidFill>
                  <a:schemeClr val="dk1"/>
                </a:solidFill>
              </a:rPr>
              <a:t>Data Instrumentation &amp; Logging:</a:t>
            </a:r>
            <a:r>
              <a:rPr lang="en" sz="1100">
                <a:solidFill>
                  <a:schemeClr val="dk1"/>
                </a:solidFill>
              </a:rPr>
              <a:t> Current debug log outputs are insufficient for academic proof. A key challenge is building a structured Data Pipeline to export high-frequency decision logs (CSV) for quantitative analysis and visualization</a:t>
            </a:r>
            <a:endParaRPr>
              <a:solidFill>
                <a:schemeClr val="dk1"/>
              </a:solidFill>
            </a:endParaRPr>
          </a:p>
        </p:txBody>
      </p:sp>
      <p:pic>
        <p:nvPicPr>
          <p:cNvPr id="82" name="Google Shape;82;p16"/>
          <p:cNvPicPr preferRelativeResize="0"/>
          <p:nvPr/>
        </p:nvPicPr>
        <p:blipFill>
          <a:blip r:embed="rId3">
            <a:alphaModFix/>
          </a:blip>
          <a:stretch>
            <a:fillRect/>
          </a:stretch>
        </p:blipFill>
        <p:spPr>
          <a:xfrm>
            <a:off x="6320125" y="2442272"/>
            <a:ext cx="1968025" cy="943575"/>
          </a:xfrm>
          <a:prstGeom prst="rect">
            <a:avLst/>
          </a:prstGeom>
          <a:noFill/>
          <a:ln>
            <a:noFill/>
          </a:ln>
        </p:spPr>
      </p:pic>
      <p:cxnSp>
        <p:nvCxnSpPr>
          <p:cNvPr id="83" name="Google Shape;83;p16"/>
          <p:cNvCxnSpPr/>
          <p:nvPr/>
        </p:nvCxnSpPr>
        <p:spPr>
          <a:xfrm>
            <a:off x="5477575" y="2536850"/>
            <a:ext cx="757500" cy="264900"/>
          </a:xfrm>
          <a:prstGeom prst="straightConnector1">
            <a:avLst/>
          </a:prstGeom>
          <a:noFill/>
          <a:ln w="9525" cap="flat" cmpd="sng">
            <a:solidFill>
              <a:schemeClr val="dk2"/>
            </a:solidFill>
            <a:prstDash val="solid"/>
            <a:round/>
            <a:headEnd type="none" w="med" len="med"/>
            <a:tailEnd type="triangle" w="med" len="med"/>
          </a:ln>
        </p:spPr>
      </p:cxnSp>
      <p:pic>
        <p:nvPicPr>
          <p:cNvPr id="84" name="Google Shape;84;p16"/>
          <p:cNvPicPr preferRelativeResize="0"/>
          <p:nvPr/>
        </p:nvPicPr>
        <p:blipFill>
          <a:blip r:embed="rId4">
            <a:alphaModFix/>
          </a:blip>
          <a:stretch>
            <a:fillRect/>
          </a:stretch>
        </p:blipFill>
        <p:spPr>
          <a:xfrm>
            <a:off x="6259350" y="3525772"/>
            <a:ext cx="1895475" cy="314325"/>
          </a:xfrm>
          <a:prstGeom prst="rect">
            <a:avLst/>
          </a:prstGeom>
          <a:noFill/>
          <a:ln>
            <a:noFill/>
          </a:ln>
        </p:spPr>
      </p:pic>
      <p:pic>
        <p:nvPicPr>
          <p:cNvPr id="85" name="Google Shape;85;p16"/>
          <p:cNvPicPr preferRelativeResize="0"/>
          <p:nvPr/>
        </p:nvPicPr>
        <p:blipFill>
          <a:blip r:embed="rId5">
            <a:alphaModFix/>
          </a:blip>
          <a:stretch>
            <a:fillRect/>
          </a:stretch>
        </p:blipFill>
        <p:spPr>
          <a:xfrm>
            <a:off x="5987201" y="4042975"/>
            <a:ext cx="2439775" cy="892900"/>
          </a:xfrm>
          <a:prstGeom prst="rect">
            <a:avLst/>
          </a:prstGeom>
          <a:noFill/>
          <a:ln>
            <a:noFill/>
          </a:ln>
        </p:spPr>
      </p:pic>
      <p:cxnSp>
        <p:nvCxnSpPr>
          <p:cNvPr id="86" name="Google Shape;86;p16"/>
          <p:cNvCxnSpPr/>
          <p:nvPr/>
        </p:nvCxnSpPr>
        <p:spPr>
          <a:xfrm>
            <a:off x="5433400" y="3369850"/>
            <a:ext cx="669000" cy="233700"/>
          </a:xfrm>
          <a:prstGeom prst="straightConnector1">
            <a:avLst/>
          </a:prstGeom>
          <a:noFill/>
          <a:ln w="9525" cap="flat" cmpd="sng">
            <a:solidFill>
              <a:schemeClr val="dk2"/>
            </a:solidFill>
            <a:prstDash val="solid"/>
            <a:round/>
            <a:headEnd type="none" w="med" len="med"/>
            <a:tailEnd type="triangle" w="med" len="med"/>
          </a:ln>
        </p:spPr>
      </p:cxnSp>
      <p:cxnSp>
        <p:nvCxnSpPr>
          <p:cNvPr id="87" name="Google Shape;87;p16"/>
          <p:cNvCxnSpPr>
            <a:endCxn id="85" idx="1"/>
          </p:cNvCxnSpPr>
          <p:nvPr/>
        </p:nvCxnSpPr>
        <p:spPr>
          <a:xfrm>
            <a:off x="5048501" y="4284825"/>
            <a:ext cx="938700" cy="204600"/>
          </a:xfrm>
          <a:prstGeom prst="straightConnector1">
            <a:avLst/>
          </a:prstGeom>
          <a:noFill/>
          <a:ln w="9525" cap="flat" cmpd="sng">
            <a:solidFill>
              <a:schemeClr val="dk2"/>
            </a:solidFill>
            <a:prstDash val="solid"/>
            <a:round/>
            <a:headEnd type="none" w="med" len="med"/>
            <a:tailEnd type="triangle" w="med" len="med"/>
          </a:ln>
        </p:spPr>
      </p:cxnSp>
      <p:pic>
        <p:nvPicPr>
          <p:cNvPr id="88" name="Google Shape;88;p16"/>
          <p:cNvPicPr preferRelativeResize="0"/>
          <p:nvPr/>
        </p:nvPicPr>
        <p:blipFill>
          <a:blip r:embed="rId6">
            <a:alphaModFix/>
          </a:blip>
          <a:stretch>
            <a:fillRect/>
          </a:stretch>
        </p:blipFill>
        <p:spPr>
          <a:xfrm>
            <a:off x="6235075" y="265850"/>
            <a:ext cx="2342224" cy="2036499"/>
          </a:xfrm>
          <a:prstGeom prst="rect">
            <a:avLst/>
          </a:prstGeom>
          <a:noFill/>
          <a:ln>
            <a:noFill/>
          </a:ln>
        </p:spPr>
      </p:pic>
      <p:cxnSp>
        <p:nvCxnSpPr>
          <p:cNvPr id="89" name="Google Shape;89;p16"/>
          <p:cNvCxnSpPr/>
          <p:nvPr/>
        </p:nvCxnSpPr>
        <p:spPr>
          <a:xfrm rot="10800000" flipH="1">
            <a:off x="5464950" y="1489175"/>
            <a:ext cx="706800" cy="113700"/>
          </a:xfrm>
          <a:prstGeom prst="straightConnector1">
            <a:avLst/>
          </a:prstGeom>
          <a:noFill/>
          <a:ln w="9525" cap="flat" cmpd="sng">
            <a:solidFill>
              <a:schemeClr val="dk2"/>
            </a:solidFill>
            <a:prstDash val="solid"/>
            <a:round/>
            <a:headEnd type="none" w="med" len="med"/>
            <a:tailEnd type="triangle" w="med" len="med"/>
          </a:ln>
        </p:spPr>
      </p:cxnSp>
      <p:sp>
        <p:nvSpPr>
          <p:cNvPr id="2" name="Slide Number Placeholder 1">
            <a:extLst>
              <a:ext uri="{FF2B5EF4-FFF2-40B4-BE49-F238E27FC236}">
                <a16:creationId xmlns:a16="http://schemas.microsoft.com/office/drawing/2014/main" id="{0CC7FFE3-64D3-4C99-EFE5-B314B434E36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a:t>
            </a:fld>
            <a:endParaRPr lang="e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7"/>
          <p:cNvSpPr txBox="1">
            <a:spLocks noGrp="1"/>
          </p:cNvSpPr>
          <p:nvPr>
            <p:ph type="title"/>
          </p:nvPr>
        </p:nvSpPr>
        <p:spPr>
          <a:xfrm>
            <a:off x="404850" y="560850"/>
            <a:ext cx="8520600" cy="572700"/>
          </a:xfrm>
          <a:prstGeom prst="rect">
            <a:avLst/>
          </a:prstGeom>
        </p:spPr>
        <p:txBody>
          <a:bodyPr spcFirstLastPara="1" wrap="square" lIns="91425" tIns="91425" rIns="91425" bIns="91425" anchor="t" anchorCtr="0">
            <a:normAutofit fontScale="90000"/>
          </a:bodyPr>
          <a:lstStyle/>
          <a:p>
            <a:pPr lvl="0"/>
            <a:r>
              <a:rPr lang="en-US" dirty="0"/>
              <a:t>Review of Existing Work in this Area</a:t>
            </a:r>
            <a:endParaRPr dirty="0"/>
          </a:p>
        </p:txBody>
      </p:sp>
      <p:sp>
        <p:nvSpPr>
          <p:cNvPr id="95" name="Google Shape;95;p17"/>
          <p:cNvSpPr txBox="1">
            <a:spLocks noGrp="1"/>
          </p:cNvSpPr>
          <p:nvPr>
            <p:ph type="body" idx="1"/>
          </p:nvPr>
        </p:nvSpPr>
        <p:spPr>
          <a:xfrm>
            <a:off x="364925" y="1133550"/>
            <a:ext cx="5592900" cy="3766500"/>
          </a:xfrm>
          <a:prstGeom prst="rect">
            <a:avLst/>
          </a:prstGeom>
        </p:spPr>
        <p:txBody>
          <a:bodyPr spcFirstLastPara="1" wrap="square" lIns="91425" tIns="91425" rIns="91425" bIns="91425" anchor="t" anchorCtr="0">
            <a:normAutofit fontScale="25000" lnSpcReduction="20000"/>
          </a:bodyPr>
          <a:lstStyle/>
          <a:p>
            <a:pPr marL="457200" lvl="0" indent="-292100" algn="l" rtl="0">
              <a:lnSpc>
                <a:spcPct val="200000"/>
              </a:lnSpc>
              <a:spcBef>
                <a:spcPts val="0"/>
              </a:spcBef>
              <a:spcAft>
                <a:spcPts val="0"/>
              </a:spcAft>
              <a:buClr>
                <a:schemeClr val="dk1"/>
              </a:buClr>
              <a:buSzPct val="100000"/>
              <a:buChar char="●"/>
            </a:pPr>
            <a:r>
              <a:rPr lang="en" sz="4000" b="1">
                <a:solidFill>
                  <a:schemeClr val="dk1"/>
                </a:solidFill>
              </a:rPr>
              <a:t>Scripted Schedules</a:t>
            </a:r>
            <a:r>
              <a:rPr lang="en" sz="4000">
                <a:solidFill>
                  <a:schemeClr val="dk1"/>
                </a:solidFill>
              </a:rPr>
              <a:t> (</a:t>
            </a:r>
            <a:r>
              <a:rPr lang="en" sz="4000" i="1">
                <a:solidFill>
                  <a:schemeClr val="dk1"/>
                </a:solidFill>
              </a:rPr>
              <a:t>Stardew Valley</a:t>
            </a:r>
            <a:r>
              <a:rPr lang="en" sz="4000">
                <a:solidFill>
                  <a:schemeClr val="dk1"/>
                </a:solidFill>
              </a:rPr>
              <a:t>): </a:t>
            </a:r>
            <a:r>
              <a:rPr lang="en" sz="4000" i="1">
                <a:solidFill>
                  <a:schemeClr val="dk1"/>
                </a:solidFill>
              </a:rPr>
              <a:t>Stardew Valley</a:t>
            </a:r>
            <a:r>
              <a:rPr lang="en" sz="4000">
                <a:solidFill>
                  <a:schemeClr val="dk1"/>
                </a:solidFill>
              </a:rPr>
              <a:t> represents the gold standard for traditional scripted schedules. By using hand-authored paths, it creates a deeply immersive narrative atmosphere where players learn the daily habits of every NPC. Our project takes inspiration from this sense of a "living world," but aims to study how we can move from these pre-planned schedules into a system where routines emerge autonomously from the agent's internal needs.</a:t>
            </a:r>
            <a:endParaRPr sz="4000" b="1">
              <a:solidFill>
                <a:schemeClr val="dk1"/>
              </a:solidFill>
            </a:endParaRPr>
          </a:p>
          <a:p>
            <a:pPr marL="457200" lvl="0" indent="-292100" algn="l" rtl="0">
              <a:lnSpc>
                <a:spcPct val="200000"/>
              </a:lnSpc>
              <a:spcBef>
                <a:spcPts val="0"/>
              </a:spcBef>
              <a:spcAft>
                <a:spcPts val="0"/>
              </a:spcAft>
              <a:buClr>
                <a:schemeClr val="dk1"/>
              </a:buClr>
              <a:buSzPct val="100000"/>
              <a:buChar char="●"/>
            </a:pPr>
            <a:r>
              <a:rPr lang="en" sz="4000" b="1">
                <a:solidFill>
                  <a:schemeClr val="dk1"/>
                </a:solidFill>
              </a:rPr>
              <a:t>Broadcasting/Push Systems</a:t>
            </a:r>
            <a:r>
              <a:rPr lang="en" sz="4000">
                <a:solidFill>
                  <a:schemeClr val="dk1"/>
                </a:solidFill>
              </a:rPr>
              <a:t> (</a:t>
            </a:r>
            <a:r>
              <a:rPr lang="en" sz="4000" i="1">
                <a:solidFill>
                  <a:schemeClr val="dk1"/>
                </a:solidFill>
              </a:rPr>
              <a:t>The Sims 4</a:t>
            </a:r>
            <a:r>
              <a:rPr lang="en" sz="4000">
                <a:solidFill>
                  <a:schemeClr val="dk1"/>
                </a:solidFill>
              </a:rPr>
              <a:t>): </a:t>
            </a:r>
            <a:r>
              <a:rPr lang="en" sz="4000" i="1">
                <a:solidFill>
                  <a:schemeClr val="dk1"/>
                </a:solidFill>
              </a:rPr>
              <a:t>The Sims</a:t>
            </a:r>
            <a:r>
              <a:rPr lang="en" sz="4000">
                <a:solidFill>
                  <a:schemeClr val="dk1"/>
                </a:solidFill>
              </a:rPr>
              <a:t> pioneered the "Smart Object" pattern, which remains the standard for scalable environmental interaction by decoupling object data from agent logic. While our project adopts this data-driven philosophy using ScriptableObjects, it evaluates a key research variation: shifting from a "broadcasting" (push) model to a proactive "scanner" (pull) model to investigate its impact on decision-making stability and reducing behavioral jitter.</a:t>
            </a:r>
            <a:endParaRPr sz="4000">
              <a:solidFill>
                <a:schemeClr val="dk1"/>
              </a:solidFill>
              <a:highlight>
                <a:srgbClr val="191919"/>
              </a:highlight>
            </a:endParaRPr>
          </a:p>
          <a:p>
            <a:pPr marL="457200" lvl="0" indent="0" algn="l" rtl="0">
              <a:spcBef>
                <a:spcPts val="1200"/>
              </a:spcBef>
              <a:spcAft>
                <a:spcPts val="0"/>
              </a:spcAft>
              <a:buNone/>
            </a:pPr>
            <a:endParaRPr/>
          </a:p>
          <a:p>
            <a:pPr marL="0" lvl="0" indent="0" algn="l" rtl="0">
              <a:spcBef>
                <a:spcPts val="1200"/>
              </a:spcBef>
              <a:spcAft>
                <a:spcPts val="1200"/>
              </a:spcAft>
              <a:buNone/>
            </a:pPr>
            <a:endParaRPr/>
          </a:p>
        </p:txBody>
      </p:sp>
      <p:pic>
        <p:nvPicPr>
          <p:cNvPr id="96" name="Google Shape;96;p17"/>
          <p:cNvPicPr preferRelativeResize="0"/>
          <p:nvPr/>
        </p:nvPicPr>
        <p:blipFill>
          <a:blip r:embed="rId3">
            <a:alphaModFix/>
          </a:blip>
          <a:stretch>
            <a:fillRect/>
          </a:stretch>
        </p:blipFill>
        <p:spPr>
          <a:xfrm>
            <a:off x="5957825" y="2920687"/>
            <a:ext cx="2201799" cy="1717663"/>
          </a:xfrm>
          <a:prstGeom prst="rect">
            <a:avLst/>
          </a:prstGeom>
          <a:noFill/>
          <a:ln>
            <a:noFill/>
          </a:ln>
        </p:spPr>
      </p:pic>
      <p:pic>
        <p:nvPicPr>
          <p:cNvPr id="97" name="Google Shape;97;p17"/>
          <p:cNvPicPr preferRelativeResize="0"/>
          <p:nvPr/>
        </p:nvPicPr>
        <p:blipFill>
          <a:blip r:embed="rId4">
            <a:alphaModFix/>
          </a:blip>
          <a:stretch>
            <a:fillRect/>
          </a:stretch>
        </p:blipFill>
        <p:spPr>
          <a:xfrm>
            <a:off x="5990750" y="1069150"/>
            <a:ext cx="2817053" cy="1584600"/>
          </a:xfrm>
          <a:prstGeom prst="rect">
            <a:avLst/>
          </a:prstGeom>
          <a:noFill/>
          <a:ln>
            <a:noFill/>
          </a:ln>
        </p:spPr>
      </p:pic>
      <p:sp>
        <p:nvSpPr>
          <p:cNvPr id="2" name="Slide Number Placeholder 1">
            <a:extLst>
              <a:ext uri="{FF2B5EF4-FFF2-40B4-BE49-F238E27FC236}">
                <a16:creationId xmlns:a16="http://schemas.microsoft.com/office/drawing/2014/main" id="{B3AD8D26-DBCD-2B92-DCE1-62D01E1E720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a:t>
            </a:fld>
            <a:endParaRPr lang="e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8"/>
          <p:cNvSpPr txBox="1">
            <a:spLocks noGrp="1"/>
          </p:cNvSpPr>
          <p:nvPr>
            <p:ph type="body" idx="1"/>
          </p:nvPr>
        </p:nvSpPr>
        <p:spPr>
          <a:xfrm>
            <a:off x="426575" y="601675"/>
            <a:ext cx="5436300" cy="3763800"/>
          </a:xfrm>
          <a:prstGeom prst="rect">
            <a:avLst/>
          </a:prstGeom>
        </p:spPr>
        <p:txBody>
          <a:bodyPr spcFirstLastPara="1" wrap="square" lIns="91425" tIns="91425" rIns="91425" bIns="91425" anchor="t" anchorCtr="0">
            <a:normAutofit fontScale="25000" lnSpcReduction="20000"/>
          </a:bodyPr>
          <a:lstStyle/>
          <a:p>
            <a:pPr marL="457200" lvl="0" indent="-292100" algn="l" rtl="0">
              <a:lnSpc>
                <a:spcPct val="200000"/>
              </a:lnSpc>
              <a:spcBef>
                <a:spcPts val="0"/>
              </a:spcBef>
              <a:spcAft>
                <a:spcPts val="0"/>
              </a:spcAft>
              <a:buClr>
                <a:schemeClr val="dk1"/>
              </a:buClr>
              <a:buSzPct val="100000"/>
              <a:buChar char="●"/>
            </a:pPr>
            <a:r>
              <a:rPr lang="en" sz="4000" b="1">
                <a:solidFill>
                  <a:schemeClr val="dk1"/>
                </a:solidFill>
              </a:rPr>
              <a:t>Believable Realism</a:t>
            </a:r>
            <a:r>
              <a:rPr lang="en" sz="4000">
                <a:solidFill>
                  <a:schemeClr val="dk1"/>
                </a:solidFill>
              </a:rPr>
              <a:t> (</a:t>
            </a:r>
            <a:r>
              <a:rPr lang="en" sz="4000" i="1">
                <a:solidFill>
                  <a:schemeClr val="dk1"/>
                </a:solidFill>
              </a:rPr>
              <a:t>Stanford’s AI Town</a:t>
            </a:r>
            <a:r>
              <a:rPr lang="en" sz="4000">
                <a:solidFill>
                  <a:schemeClr val="dk1"/>
                </a:solidFill>
              </a:rPr>
              <a:t>): The research behind AI Town proved that high-level social realism and "alive" NPC routines are possible and highly engaging. It set a new benchmark for what a believable digital society looks like. Inspired by this vision of organic routines, our project aims to build a lightweight, offline form of this realism. We are studying if smart mathematical curves can achieve that same "alive" feeling locally without the heavy cost of LLMs.</a:t>
            </a:r>
            <a:endParaRPr sz="4000">
              <a:solidFill>
                <a:schemeClr val="dk1"/>
              </a:solidFill>
            </a:endParaRPr>
          </a:p>
          <a:p>
            <a:pPr marL="457200" lvl="0" indent="-292100" algn="l" rtl="0">
              <a:lnSpc>
                <a:spcPct val="200000"/>
              </a:lnSpc>
              <a:spcBef>
                <a:spcPts val="0"/>
              </a:spcBef>
              <a:spcAft>
                <a:spcPts val="0"/>
              </a:spcAft>
              <a:buClr>
                <a:schemeClr val="dk1"/>
              </a:buClr>
              <a:buSzPct val="100000"/>
              <a:buChar char="●"/>
            </a:pPr>
            <a:r>
              <a:rPr lang="en" sz="4000" b="1">
                <a:solidFill>
                  <a:schemeClr val="dk1"/>
                </a:solidFill>
              </a:rPr>
              <a:t>Utility System Core</a:t>
            </a:r>
            <a:r>
              <a:rPr lang="en" sz="4000">
                <a:solidFill>
                  <a:schemeClr val="dk1"/>
                </a:solidFill>
              </a:rPr>
              <a:t> (</a:t>
            </a:r>
            <a:r>
              <a:rPr lang="en" sz="4000" i="1">
                <a:solidFill>
                  <a:schemeClr val="dk1"/>
                </a:solidFill>
              </a:rPr>
              <a:t>RimWorld</a:t>
            </a:r>
            <a:r>
              <a:rPr lang="en" sz="4000">
                <a:solidFill>
                  <a:schemeClr val="dk1"/>
                </a:solidFill>
              </a:rPr>
              <a:t>): </a:t>
            </a:r>
            <a:r>
              <a:rPr lang="en" sz="4000" i="1">
                <a:solidFill>
                  <a:schemeClr val="dk1"/>
                </a:solidFill>
              </a:rPr>
              <a:t>RimWorld </a:t>
            </a:r>
            <a:r>
              <a:rPr lang="en" sz="4000">
                <a:solidFill>
                  <a:schemeClr val="dk1"/>
                </a:solidFill>
              </a:rPr>
              <a:t>is the technical pinnacle of systemic emergence, utilizing a proactive "Scanner" architecture and Utility Theory to allow agents to autonomously evaluate their world. This framework serves as the core technical inspiration for my project. My research focuses on the specific balancing and tuning required to apply this robust survival-centric logic to low-stakes, peaceful domestic routines.</a:t>
            </a:r>
            <a:endParaRPr sz="4000">
              <a:solidFill>
                <a:schemeClr val="dk1"/>
              </a:solidFill>
              <a:highlight>
                <a:srgbClr val="191919"/>
              </a:highlight>
            </a:endParaRPr>
          </a:p>
          <a:p>
            <a:pPr marL="0" lvl="0" indent="0" algn="l" rtl="0">
              <a:spcBef>
                <a:spcPts val="0"/>
              </a:spcBef>
              <a:spcAft>
                <a:spcPts val="1200"/>
              </a:spcAft>
              <a:buNone/>
            </a:pPr>
            <a:endParaRPr/>
          </a:p>
        </p:txBody>
      </p:sp>
      <p:pic>
        <p:nvPicPr>
          <p:cNvPr id="103" name="Google Shape;103;p18"/>
          <p:cNvPicPr preferRelativeResize="0"/>
          <p:nvPr/>
        </p:nvPicPr>
        <p:blipFill>
          <a:blip r:embed="rId3">
            <a:alphaModFix/>
          </a:blip>
          <a:stretch>
            <a:fillRect/>
          </a:stretch>
        </p:blipFill>
        <p:spPr>
          <a:xfrm>
            <a:off x="5953575" y="235950"/>
            <a:ext cx="2285925" cy="2335800"/>
          </a:xfrm>
          <a:prstGeom prst="rect">
            <a:avLst/>
          </a:prstGeom>
          <a:noFill/>
          <a:ln>
            <a:noFill/>
          </a:ln>
        </p:spPr>
      </p:pic>
      <p:pic>
        <p:nvPicPr>
          <p:cNvPr id="104" name="Google Shape;104;p18"/>
          <p:cNvPicPr preferRelativeResize="0"/>
          <p:nvPr/>
        </p:nvPicPr>
        <p:blipFill>
          <a:blip r:embed="rId4">
            <a:alphaModFix/>
          </a:blip>
          <a:stretch>
            <a:fillRect/>
          </a:stretch>
        </p:blipFill>
        <p:spPr>
          <a:xfrm>
            <a:off x="5862863" y="2717322"/>
            <a:ext cx="2667700" cy="1233975"/>
          </a:xfrm>
          <a:prstGeom prst="rect">
            <a:avLst/>
          </a:prstGeom>
          <a:noFill/>
          <a:ln>
            <a:noFill/>
          </a:ln>
        </p:spPr>
      </p:pic>
      <p:sp>
        <p:nvSpPr>
          <p:cNvPr id="2" name="Slide Number Placeholder 1">
            <a:extLst>
              <a:ext uri="{FF2B5EF4-FFF2-40B4-BE49-F238E27FC236}">
                <a16:creationId xmlns:a16="http://schemas.microsoft.com/office/drawing/2014/main" id="{48A76EC2-DA25-6C9F-30E5-B4E67FF9522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6</a:t>
            </a:fld>
            <a:endParaRPr lang="e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9"/>
          <p:cNvSpPr txBox="1">
            <a:spLocks noGrp="1"/>
          </p:cNvSpPr>
          <p:nvPr>
            <p:ph type="title"/>
          </p:nvPr>
        </p:nvSpPr>
        <p:spPr>
          <a:xfrm>
            <a:off x="451438" y="410638"/>
            <a:ext cx="5975789" cy="572700"/>
          </a:xfrm>
          <a:prstGeom prst="rect">
            <a:avLst/>
          </a:prstGeom>
        </p:spPr>
        <p:txBody>
          <a:bodyPr spcFirstLastPara="1" wrap="square" lIns="91425" tIns="91425" rIns="91425" bIns="91425" anchor="t" anchorCtr="0">
            <a:normAutofit fontScale="90000"/>
          </a:bodyPr>
          <a:lstStyle/>
          <a:p>
            <a:pPr lvl="0"/>
            <a:r>
              <a:rPr lang="en-US" dirty="0"/>
              <a:t>How Our Approach Addresses Limitations of Existing Models</a:t>
            </a:r>
            <a:endParaRPr dirty="0"/>
          </a:p>
          <a:p>
            <a:pPr marL="0" lvl="0" indent="0" algn="l" rtl="0">
              <a:spcBef>
                <a:spcPts val="0"/>
              </a:spcBef>
              <a:spcAft>
                <a:spcPts val="0"/>
              </a:spcAft>
              <a:buNone/>
            </a:pPr>
            <a:endParaRPr sz="2466" dirty="0"/>
          </a:p>
        </p:txBody>
      </p:sp>
      <p:sp>
        <p:nvSpPr>
          <p:cNvPr id="110" name="Google Shape;110;p1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457200" algn="l" rtl="0">
              <a:spcBef>
                <a:spcPts val="0"/>
              </a:spcBef>
              <a:spcAft>
                <a:spcPts val="0"/>
              </a:spcAft>
              <a:buNone/>
            </a:pPr>
            <a:r>
              <a:rPr lang="en" sz="1600">
                <a:solidFill>
                  <a:schemeClr val="dk1"/>
                </a:solidFill>
              </a:rPr>
              <a:t>Finding the "Middle Ground":</a:t>
            </a:r>
            <a:endParaRPr sz="1600">
              <a:solidFill>
                <a:schemeClr val="dk1"/>
              </a:solidFill>
            </a:endParaRPr>
          </a:p>
          <a:p>
            <a:pPr marL="457200" lvl="0" indent="-323850" algn="l" rtl="0">
              <a:lnSpc>
                <a:spcPct val="150000"/>
              </a:lnSpc>
              <a:spcBef>
                <a:spcPts val="1200"/>
              </a:spcBef>
              <a:spcAft>
                <a:spcPts val="0"/>
              </a:spcAft>
              <a:buClr>
                <a:schemeClr val="dk1"/>
              </a:buClr>
              <a:buSzPts val="1500"/>
              <a:buChar char="●"/>
            </a:pPr>
            <a:r>
              <a:rPr lang="en" sz="1500" b="1">
                <a:solidFill>
                  <a:schemeClr val="dk1"/>
                </a:solidFill>
              </a:rPr>
              <a:t>Environmental Adaptability</a:t>
            </a:r>
            <a:r>
              <a:rPr lang="en" sz="1500">
                <a:solidFill>
                  <a:schemeClr val="dk1"/>
                </a:solidFill>
              </a:rPr>
              <a:t>: Replacing rigid schedules with proactive "Scanning." Agents autonomously recalculate routines in real-time if paths are blocked or resources are moved</a:t>
            </a:r>
            <a:endParaRPr sz="1500">
              <a:solidFill>
                <a:schemeClr val="dk1"/>
              </a:solidFill>
            </a:endParaRPr>
          </a:p>
          <a:p>
            <a:pPr marL="457200" lvl="0" indent="-323850" algn="l" rtl="0">
              <a:lnSpc>
                <a:spcPct val="150000"/>
              </a:lnSpc>
              <a:spcBef>
                <a:spcPts val="0"/>
              </a:spcBef>
              <a:spcAft>
                <a:spcPts val="0"/>
              </a:spcAft>
              <a:buClr>
                <a:schemeClr val="dk1"/>
              </a:buClr>
              <a:buSzPts val="1500"/>
              <a:buChar char="●"/>
            </a:pPr>
            <a:r>
              <a:rPr lang="en" sz="1500" b="1">
                <a:solidFill>
                  <a:schemeClr val="dk1"/>
                </a:solidFill>
              </a:rPr>
              <a:t>Behavioral Stability: </a:t>
            </a:r>
            <a:r>
              <a:rPr lang="en" sz="1500">
                <a:solidFill>
                  <a:schemeClr val="dk1"/>
                </a:solidFill>
              </a:rPr>
              <a:t>Reducing the "Action Lock-in" and "Jitter" problems. By implementing Action Inertia, agents remain focused on routines but retain the mathematical flexibility to interrupt a task for survival emergencies</a:t>
            </a:r>
            <a:endParaRPr sz="1500">
              <a:solidFill>
                <a:schemeClr val="dk1"/>
              </a:solidFill>
            </a:endParaRPr>
          </a:p>
          <a:p>
            <a:pPr marL="457200" lvl="0" indent="-323850" algn="l" rtl="0">
              <a:lnSpc>
                <a:spcPct val="150000"/>
              </a:lnSpc>
              <a:spcBef>
                <a:spcPts val="0"/>
              </a:spcBef>
              <a:spcAft>
                <a:spcPts val="0"/>
              </a:spcAft>
              <a:buClr>
                <a:schemeClr val="dk1"/>
              </a:buClr>
              <a:buSzPts val="1500"/>
              <a:buChar char="●"/>
            </a:pPr>
            <a:r>
              <a:rPr lang="en" sz="1500" b="1">
                <a:solidFill>
                  <a:schemeClr val="dk1"/>
                </a:solidFill>
              </a:rPr>
              <a:t>Lightweight Realism:</a:t>
            </a:r>
            <a:r>
              <a:rPr lang="en" sz="1500">
                <a:solidFill>
                  <a:schemeClr val="dk1"/>
                </a:solidFill>
              </a:rPr>
              <a:t> Achieving "AI Town" style believable routines using local Non-linear Math Curves instead of expensive cloud-based Generative Models (LLMs)</a:t>
            </a:r>
            <a:endParaRPr sz="1500">
              <a:solidFill>
                <a:schemeClr val="dk1"/>
              </a:solidFill>
            </a:endParaRPr>
          </a:p>
        </p:txBody>
      </p:sp>
      <p:sp>
        <p:nvSpPr>
          <p:cNvPr id="2" name="Slide Number Placeholder 1">
            <a:extLst>
              <a:ext uri="{FF2B5EF4-FFF2-40B4-BE49-F238E27FC236}">
                <a16:creationId xmlns:a16="http://schemas.microsoft.com/office/drawing/2014/main" id="{0CA876CC-2966-B53D-AF5F-965413F1A10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7</a:t>
            </a:fld>
            <a:endParaRPr lang="e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0"/>
          <p:cNvSpPr txBox="1">
            <a:spLocks noGrp="1"/>
          </p:cNvSpPr>
          <p:nvPr>
            <p:ph type="title"/>
          </p:nvPr>
        </p:nvSpPr>
        <p:spPr>
          <a:xfrm>
            <a:off x="426575" y="579775"/>
            <a:ext cx="8520600" cy="572700"/>
          </a:xfrm>
          <a:prstGeom prst="rect">
            <a:avLst/>
          </a:prstGeom>
        </p:spPr>
        <p:txBody>
          <a:bodyPr spcFirstLastPara="1" wrap="square" lIns="91425" tIns="91425" rIns="91425" bIns="91425" anchor="t" anchorCtr="0">
            <a:normAutofit fontScale="90000"/>
          </a:bodyPr>
          <a:lstStyle/>
          <a:p>
            <a:pPr lvl="0"/>
            <a:r>
              <a:rPr lang="en-US" dirty="0"/>
              <a:t>Potential Improvements over Current Techniques</a:t>
            </a:r>
            <a:endParaRPr dirty="0"/>
          </a:p>
        </p:txBody>
      </p:sp>
      <p:sp>
        <p:nvSpPr>
          <p:cNvPr id="116" name="Google Shape;116;p20"/>
          <p:cNvSpPr txBox="1">
            <a:spLocks noGrp="1"/>
          </p:cNvSpPr>
          <p:nvPr>
            <p:ph type="body" idx="1"/>
          </p:nvPr>
        </p:nvSpPr>
        <p:spPr>
          <a:xfrm>
            <a:off x="311700" y="1292400"/>
            <a:ext cx="8520600" cy="3416400"/>
          </a:xfrm>
          <a:prstGeom prst="rect">
            <a:avLst/>
          </a:prstGeom>
        </p:spPr>
        <p:txBody>
          <a:bodyPr spcFirstLastPara="1" wrap="square" lIns="91425" tIns="91425" rIns="91425" bIns="91425" anchor="t" anchorCtr="0">
            <a:normAutofit fontScale="77500" lnSpcReduction="20000"/>
          </a:bodyPr>
          <a:lstStyle/>
          <a:p>
            <a:pPr marL="457200" lvl="0" indent="-317182" algn="l" rtl="0">
              <a:lnSpc>
                <a:spcPct val="200000"/>
              </a:lnSpc>
              <a:spcBef>
                <a:spcPts val="0"/>
              </a:spcBef>
              <a:spcAft>
                <a:spcPts val="0"/>
              </a:spcAft>
              <a:buClr>
                <a:schemeClr val="dk1"/>
              </a:buClr>
              <a:buSzPct val="100000"/>
              <a:buChar char="●"/>
            </a:pPr>
            <a:r>
              <a:rPr lang="en" b="1">
                <a:solidFill>
                  <a:schemeClr val="dk1"/>
                </a:solidFill>
              </a:rPr>
              <a:t>Computational Efficiency:</a:t>
            </a:r>
            <a:r>
              <a:rPr lang="en">
                <a:solidFill>
                  <a:schemeClr val="dk1"/>
                </a:solidFill>
              </a:rPr>
              <a:t> Achieving believable, high-level routines locally with near-zero CPU overhead compared to cloud-based LLMs</a:t>
            </a:r>
            <a:endParaRPr>
              <a:solidFill>
                <a:schemeClr val="dk1"/>
              </a:solidFill>
            </a:endParaRPr>
          </a:p>
          <a:p>
            <a:pPr marL="457200" lvl="0" indent="-317182" algn="l" rtl="0">
              <a:lnSpc>
                <a:spcPct val="200000"/>
              </a:lnSpc>
              <a:spcBef>
                <a:spcPts val="0"/>
              </a:spcBef>
              <a:spcAft>
                <a:spcPts val="0"/>
              </a:spcAft>
              <a:buClr>
                <a:schemeClr val="dk1"/>
              </a:buClr>
              <a:buSzPct val="100000"/>
              <a:buChar char="●"/>
            </a:pPr>
            <a:r>
              <a:rPr lang="en" b="1">
                <a:solidFill>
                  <a:schemeClr val="dk1"/>
                </a:solidFill>
              </a:rPr>
              <a:t>Environmental Resilience:</a:t>
            </a:r>
            <a:r>
              <a:rPr lang="en">
                <a:solidFill>
                  <a:schemeClr val="dk1"/>
                </a:solidFill>
              </a:rPr>
              <a:t> Robust architecture that agents autonomously adapt to moved or obstructed resources without logic failure</a:t>
            </a:r>
            <a:endParaRPr>
              <a:solidFill>
                <a:schemeClr val="dk1"/>
              </a:solidFill>
            </a:endParaRPr>
          </a:p>
          <a:p>
            <a:pPr marL="457200" lvl="0" indent="-317182" algn="l" rtl="0">
              <a:lnSpc>
                <a:spcPct val="200000"/>
              </a:lnSpc>
              <a:spcBef>
                <a:spcPts val="0"/>
              </a:spcBef>
              <a:spcAft>
                <a:spcPts val="0"/>
              </a:spcAft>
              <a:buClr>
                <a:schemeClr val="dk1"/>
              </a:buClr>
              <a:buSzPct val="100000"/>
              <a:buChar char="●"/>
            </a:pPr>
            <a:r>
              <a:rPr lang="en" b="1">
                <a:solidFill>
                  <a:schemeClr val="dk1"/>
                </a:solidFill>
              </a:rPr>
              <a:t>Designer Flexibility:</a:t>
            </a:r>
            <a:r>
              <a:rPr lang="en">
                <a:solidFill>
                  <a:schemeClr val="dk1"/>
                </a:solidFill>
              </a:rPr>
              <a:t> Rapid iteration of NPC "personalities" via ScriptableObject assets (Curves) without code refactoring</a:t>
            </a:r>
            <a:endParaRPr>
              <a:solidFill>
                <a:schemeClr val="dk1"/>
              </a:solidFill>
            </a:endParaRPr>
          </a:p>
          <a:p>
            <a:pPr marL="457200" lvl="0" indent="-317182" algn="l" rtl="0">
              <a:lnSpc>
                <a:spcPct val="200000"/>
              </a:lnSpc>
              <a:spcBef>
                <a:spcPts val="0"/>
              </a:spcBef>
              <a:spcAft>
                <a:spcPts val="0"/>
              </a:spcAft>
              <a:buClr>
                <a:schemeClr val="dk1"/>
              </a:buClr>
              <a:buSzPct val="100000"/>
              <a:buChar char="●"/>
            </a:pPr>
            <a:r>
              <a:rPr lang="en" b="1">
                <a:solidFill>
                  <a:schemeClr val="dk1"/>
                </a:solidFill>
              </a:rPr>
              <a:t>Behavioral Continuity:</a:t>
            </a:r>
            <a:r>
              <a:rPr lang="en">
                <a:solidFill>
                  <a:schemeClr val="dk1"/>
                </a:solidFill>
              </a:rPr>
              <a:t> Reduce "robotic jitter" through mathematical inertia and task commitment</a:t>
            </a:r>
            <a:endParaRPr>
              <a:solidFill>
                <a:schemeClr val="dk1"/>
              </a:solidFill>
            </a:endParaRPr>
          </a:p>
          <a:p>
            <a:pPr marL="0" lvl="0" indent="0" algn="l" rtl="0">
              <a:spcBef>
                <a:spcPts val="1200"/>
              </a:spcBef>
              <a:spcAft>
                <a:spcPts val="1200"/>
              </a:spcAft>
              <a:buNone/>
            </a:pPr>
            <a:endParaRPr>
              <a:solidFill>
                <a:schemeClr val="dk1"/>
              </a:solidFill>
            </a:endParaRPr>
          </a:p>
        </p:txBody>
      </p:sp>
      <p:sp>
        <p:nvSpPr>
          <p:cNvPr id="2" name="Slide Number Placeholder 1">
            <a:extLst>
              <a:ext uri="{FF2B5EF4-FFF2-40B4-BE49-F238E27FC236}">
                <a16:creationId xmlns:a16="http://schemas.microsoft.com/office/drawing/2014/main" id="{964CA100-349D-2ED3-2573-9471A56CB21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8</a:t>
            </a:fld>
            <a:endParaRPr lang="e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1"/>
          <p:cNvSpPr txBox="1">
            <a:spLocks noGrp="1"/>
          </p:cNvSpPr>
          <p:nvPr>
            <p:ph type="title"/>
          </p:nvPr>
        </p:nvSpPr>
        <p:spPr>
          <a:xfrm>
            <a:off x="455275" y="579775"/>
            <a:ext cx="8520600" cy="572700"/>
          </a:xfrm>
          <a:prstGeom prst="rect">
            <a:avLst/>
          </a:prstGeom>
        </p:spPr>
        <p:txBody>
          <a:bodyPr spcFirstLastPara="1" wrap="square" lIns="91425" tIns="91425" rIns="91425" bIns="91425" anchor="t" anchorCtr="0">
            <a:normAutofit fontScale="90000"/>
          </a:bodyPr>
          <a:lstStyle/>
          <a:p>
            <a:pPr lvl="0"/>
            <a:r>
              <a:rPr lang="en-US" dirty="0"/>
              <a:t>A Tentative Timeline for Completion</a:t>
            </a:r>
            <a:endParaRPr dirty="0"/>
          </a:p>
        </p:txBody>
      </p:sp>
      <p:sp>
        <p:nvSpPr>
          <p:cNvPr id="122" name="Google Shape;122;p21"/>
          <p:cNvSpPr txBox="1">
            <a:spLocks noGrp="1"/>
          </p:cNvSpPr>
          <p:nvPr>
            <p:ph type="body" idx="1"/>
          </p:nvPr>
        </p:nvSpPr>
        <p:spPr>
          <a:xfrm>
            <a:off x="455275" y="1413225"/>
            <a:ext cx="7317600" cy="2917800"/>
          </a:xfrm>
          <a:prstGeom prst="rect">
            <a:avLst/>
          </a:prstGeom>
        </p:spPr>
        <p:txBody>
          <a:bodyPr spcFirstLastPara="1" wrap="square" lIns="91425" tIns="91425" rIns="91425" bIns="91425" anchor="t" anchorCtr="0">
            <a:normAutofit fontScale="25000" lnSpcReduction="20000"/>
          </a:bodyPr>
          <a:lstStyle/>
          <a:p>
            <a:pPr marL="457200" lvl="0" indent="-287460" algn="l" rtl="0">
              <a:lnSpc>
                <a:spcPct val="200000"/>
              </a:lnSpc>
              <a:spcBef>
                <a:spcPts val="0"/>
              </a:spcBef>
              <a:spcAft>
                <a:spcPts val="0"/>
              </a:spcAft>
              <a:buClr>
                <a:schemeClr val="dk1"/>
              </a:buClr>
              <a:buSzPct val="100000"/>
              <a:buChar char="●"/>
            </a:pPr>
            <a:r>
              <a:rPr lang="en" sz="3707" dirty="0">
                <a:solidFill>
                  <a:schemeClr val="dk1"/>
                </a:solidFill>
              </a:rPr>
              <a:t>January: Infrastructure &amp; Data Design (Completed)</a:t>
            </a:r>
            <a:endParaRPr sz="3707" dirty="0">
              <a:solidFill>
                <a:schemeClr val="dk1"/>
              </a:solidFill>
            </a:endParaRPr>
          </a:p>
          <a:p>
            <a:pPr marL="914400" lvl="1" indent="-280384" algn="l" rtl="0">
              <a:lnSpc>
                <a:spcPct val="200000"/>
              </a:lnSpc>
              <a:spcBef>
                <a:spcPts val="0"/>
              </a:spcBef>
              <a:spcAft>
                <a:spcPts val="0"/>
              </a:spcAft>
              <a:buClr>
                <a:schemeClr val="dk1"/>
              </a:buClr>
              <a:buSzPct val="100000"/>
              <a:buChar char="○"/>
            </a:pPr>
            <a:r>
              <a:rPr lang="en" sz="3262" dirty="0">
                <a:solidFill>
                  <a:schemeClr val="dk1"/>
                </a:solidFill>
              </a:rPr>
              <a:t>Established Git workflow and the core ScriptableObject architecture for Needs and Smart Object data</a:t>
            </a:r>
            <a:endParaRPr sz="3262" dirty="0">
              <a:solidFill>
                <a:schemeClr val="dk1"/>
              </a:solidFill>
            </a:endParaRPr>
          </a:p>
          <a:p>
            <a:pPr marL="457200" lvl="0" indent="-287460" algn="l" rtl="0">
              <a:lnSpc>
                <a:spcPct val="200000"/>
              </a:lnSpc>
              <a:spcBef>
                <a:spcPts val="0"/>
              </a:spcBef>
              <a:spcAft>
                <a:spcPts val="0"/>
              </a:spcAft>
              <a:buClr>
                <a:schemeClr val="dk1"/>
              </a:buClr>
              <a:buSzPct val="100000"/>
              <a:buChar char="●"/>
            </a:pPr>
            <a:r>
              <a:rPr lang="en" sz="3707" b="1" dirty="0">
                <a:solidFill>
                  <a:schemeClr val="dk1"/>
                </a:solidFill>
              </a:rPr>
              <a:t>February: The Simulation Loop (In progress)</a:t>
            </a:r>
            <a:endParaRPr sz="3707" b="1" dirty="0">
              <a:solidFill>
                <a:schemeClr val="dk1"/>
              </a:solidFill>
            </a:endParaRPr>
          </a:p>
          <a:p>
            <a:pPr marL="914400" lvl="1" indent="-281110" algn="l" rtl="0">
              <a:lnSpc>
                <a:spcPct val="200000"/>
              </a:lnSpc>
              <a:spcBef>
                <a:spcPts val="0"/>
              </a:spcBef>
              <a:spcAft>
                <a:spcPts val="0"/>
              </a:spcAft>
              <a:buClr>
                <a:schemeClr val="dk1"/>
              </a:buClr>
              <a:buSzPct val="100000"/>
              <a:buChar char="○"/>
            </a:pPr>
            <a:r>
              <a:rPr lang="en" sz="3307" dirty="0">
                <a:solidFill>
                  <a:schemeClr val="dk1"/>
                </a:solidFill>
              </a:rPr>
              <a:t>Constructed the greybox environment with metabolism decay, physics-based movement, and incremental restoration</a:t>
            </a:r>
            <a:endParaRPr sz="3307" dirty="0">
              <a:solidFill>
                <a:schemeClr val="dk1"/>
              </a:solidFill>
            </a:endParaRPr>
          </a:p>
          <a:p>
            <a:pPr marL="457200" lvl="0" indent="-287460" algn="l" rtl="0">
              <a:lnSpc>
                <a:spcPct val="200000"/>
              </a:lnSpc>
              <a:spcBef>
                <a:spcPts val="0"/>
              </a:spcBef>
              <a:spcAft>
                <a:spcPts val="0"/>
              </a:spcAft>
              <a:buClr>
                <a:schemeClr val="dk1"/>
              </a:buClr>
              <a:buSzPct val="100000"/>
              <a:buChar char="●"/>
            </a:pPr>
            <a:r>
              <a:rPr lang="en" sz="3707" dirty="0">
                <a:solidFill>
                  <a:schemeClr val="dk1"/>
                </a:solidFill>
              </a:rPr>
              <a:t>March: Baseline Agent </a:t>
            </a:r>
            <a:endParaRPr sz="3707" dirty="0">
              <a:solidFill>
                <a:schemeClr val="dk1"/>
              </a:solidFill>
            </a:endParaRPr>
          </a:p>
          <a:p>
            <a:pPr marL="914400" lvl="1" indent="-281110" algn="l" rtl="0">
              <a:lnSpc>
                <a:spcPct val="200000"/>
              </a:lnSpc>
              <a:spcBef>
                <a:spcPts val="0"/>
              </a:spcBef>
              <a:spcAft>
                <a:spcPts val="0"/>
              </a:spcAft>
              <a:buClr>
                <a:schemeClr val="dk1"/>
              </a:buClr>
              <a:buSzPct val="100000"/>
              <a:buChar char="○"/>
            </a:pPr>
            <a:r>
              <a:rPr lang="en" sz="3307" dirty="0">
                <a:solidFill>
                  <a:schemeClr val="dk1"/>
                </a:solidFill>
              </a:rPr>
              <a:t>Finalizing threshold-based logic to establish a stable, autonomous survival loop for the control group</a:t>
            </a:r>
            <a:endParaRPr sz="3307" dirty="0">
              <a:solidFill>
                <a:schemeClr val="dk1"/>
              </a:solidFill>
            </a:endParaRPr>
          </a:p>
          <a:p>
            <a:pPr marL="457200" lvl="0" indent="-287460" algn="l" rtl="0">
              <a:lnSpc>
                <a:spcPct val="200000"/>
              </a:lnSpc>
              <a:spcBef>
                <a:spcPts val="0"/>
              </a:spcBef>
              <a:spcAft>
                <a:spcPts val="0"/>
              </a:spcAft>
              <a:buClr>
                <a:schemeClr val="dk1"/>
              </a:buClr>
              <a:buSzPct val="100000"/>
              <a:buChar char="●"/>
            </a:pPr>
            <a:r>
              <a:rPr lang="en" sz="3707" dirty="0">
                <a:solidFill>
                  <a:schemeClr val="dk1"/>
                </a:solidFill>
              </a:rPr>
              <a:t>April: Data Logging &amp; Preparation</a:t>
            </a:r>
            <a:endParaRPr sz="3707" dirty="0">
              <a:solidFill>
                <a:schemeClr val="dk1"/>
              </a:solidFill>
            </a:endParaRPr>
          </a:p>
          <a:p>
            <a:pPr marL="914400" lvl="1" indent="-281110" algn="l" rtl="0">
              <a:lnSpc>
                <a:spcPct val="200000"/>
              </a:lnSpc>
              <a:spcBef>
                <a:spcPts val="0"/>
              </a:spcBef>
              <a:spcAft>
                <a:spcPts val="0"/>
              </a:spcAft>
              <a:buClr>
                <a:schemeClr val="dk1"/>
              </a:buClr>
              <a:buSzPct val="100000"/>
              <a:buChar char="○"/>
            </a:pPr>
            <a:r>
              <a:rPr lang="en" sz="3307" dirty="0">
                <a:solidFill>
                  <a:schemeClr val="dk1"/>
                </a:solidFill>
              </a:rPr>
              <a:t>Developing a CSV export pipeline for quantitative analysis and integrating AnimationCurve structures for the Utility transition.</a:t>
            </a:r>
            <a:endParaRPr sz="3307" dirty="0">
              <a:solidFill>
                <a:schemeClr val="dk1"/>
              </a:solidFill>
            </a:endParaRPr>
          </a:p>
          <a:p>
            <a:pPr marL="457200" lvl="0" indent="-287460" algn="l" rtl="0">
              <a:lnSpc>
                <a:spcPct val="200000"/>
              </a:lnSpc>
              <a:spcBef>
                <a:spcPts val="0"/>
              </a:spcBef>
              <a:spcAft>
                <a:spcPts val="0"/>
              </a:spcAft>
              <a:buClr>
                <a:schemeClr val="dk1"/>
              </a:buClr>
              <a:buSzPct val="100000"/>
              <a:buChar char="●"/>
            </a:pPr>
            <a:r>
              <a:rPr lang="en" sz="3707" dirty="0">
                <a:solidFill>
                  <a:schemeClr val="dk1"/>
                </a:solidFill>
              </a:rPr>
              <a:t>May: Evaluation &amp; Documentation</a:t>
            </a:r>
            <a:endParaRPr sz="3707" dirty="0">
              <a:solidFill>
                <a:schemeClr val="dk1"/>
              </a:solidFill>
            </a:endParaRPr>
          </a:p>
          <a:p>
            <a:pPr marL="914400" lvl="1" indent="-281110" algn="l" rtl="0">
              <a:lnSpc>
                <a:spcPct val="200000"/>
              </a:lnSpc>
              <a:spcBef>
                <a:spcPts val="0"/>
              </a:spcBef>
              <a:spcAft>
                <a:spcPts val="0"/>
              </a:spcAft>
              <a:buClr>
                <a:schemeClr val="dk1"/>
              </a:buClr>
              <a:buSzPct val="100000"/>
              <a:buChar char="○"/>
            </a:pPr>
            <a:r>
              <a:rPr lang="en" sz="3307" dirty="0">
                <a:solidFill>
                  <a:schemeClr val="dk1"/>
                </a:solidFill>
              </a:rPr>
              <a:t>Conducting long-duration stability testing and finalizing the semester progress report </a:t>
            </a:r>
            <a:endParaRPr sz="3307" dirty="0"/>
          </a:p>
          <a:p>
            <a:pPr marL="0" lvl="0" indent="0" algn="l" rtl="0">
              <a:spcBef>
                <a:spcPts val="1200"/>
              </a:spcBef>
              <a:spcAft>
                <a:spcPts val="1200"/>
              </a:spcAft>
              <a:buNone/>
            </a:pPr>
            <a:endParaRPr dirty="0"/>
          </a:p>
        </p:txBody>
      </p:sp>
      <p:sp>
        <p:nvSpPr>
          <p:cNvPr id="2" name="Slide Number Placeholder 1">
            <a:extLst>
              <a:ext uri="{FF2B5EF4-FFF2-40B4-BE49-F238E27FC236}">
                <a16:creationId xmlns:a16="http://schemas.microsoft.com/office/drawing/2014/main" id="{6F79A007-C013-BC89-92EF-6DFC442FEEF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9</a:t>
            </a:fld>
            <a:endParaRPr lang="en"/>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54</TotalTime>
  <Words>1052</Words>
  <Application>Microsoft Office PowerPoint</Application>
  <PresentationFormat>On-screen Show (16:9)</PresentationFormat>
  <Paragraphs>67</Paragraphs>
  <Slides>9</Slides>
  <Notes>9</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9</vt:i4>
      </vt:variant>
    </vt:vector>
  </HeadingPairs>
  <TitlesOfParts>
    <vt:vector size="11" baseType="lpstr">
      <vt:lpstr>Arial</vt:lpstr>
      <vt:lpstr>Simple Light</vt:lpstr>
      <vt:lpstr>Response Curves and Action Inertia in Utility-Based NPC AI</vt:lpstr>
      <vt:lpstr>The Overall Project Scope and Objectives</vt:lpstr>
      <vt:lpstr>Proposed Methodology and Technical Approach</vt:lpstr>
      <vt:lpstr>Expected Challenges and Risks</vt:lpstr>
      <vt:lpstr>Review of Existing Work in this Area</vt:lpstr>
      <vt:lpstr>PowerPoint Presentation</vt:lpstr>
      <vt:lpstr>How Our Approach Addresses Limitations of Existing Models </vt:lpstr>
      <vt:lpstr>Potential Improvements over Current Techniques</vt:lpstr>
      <vt:lpstr>A Tentative Timeline for Completion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Jiang, Wenjie</cp:lastModifiedBy>
  <cp:revision>2</cp:revision>
  <dcterms:modified xsi:type="dcterms:W3CDTF">2026-04-19T11:10:51Z</dcterms:modified>
</cp:coreProperties>
</file>