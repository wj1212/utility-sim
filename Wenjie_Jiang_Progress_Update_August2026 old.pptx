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jhXBMYxZ4WvKmTGF4UVYOSy2IR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DF37E5-E82F-4FF7-88F0-F29DEB3028E2}">
  <a:tblStyle styleId="{52DF37E5-E82F-4FF7-88F0-F29DEB3028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6" d="100"/>
          <a:sy n="166" d="100"/>
        </p:scale>
        <p:origin x="150" y="6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30CA21DF-444F-48CC-4C5A-E9F8D432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>
            <a:extLst>
              <a:ext uri="{FF2B5EF4-FFF2-40B4-BE49-F238E27FC236}">
                <a16:creationId xmlns:a16="http://schemas.microsoft.com/office/drawing/2014/main" id="{A48E47B8-AB56-B5FD-F09B-6A935FACD4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8:notes">
            <a:extLst>
              <a:ext uri="{FF2B5EF4-FFF2-40B4-BE49-F238E27FC236}">
                <a16:creationId xmlns:a16="http://schemas.microsoft.com/office/drawing/2014/main" id="{36DFD91F-4574-6B7C-0875-1EF224B3C3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7942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83d978854_4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83d978854_4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4.0344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11708" y="16369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 b="1"/>
              <a:t>Response Curves and Action Inertia in Utility-Based NPC Agents</a:t>
            </a:r>
            <a:endParaRPr sz="3600" b="1"/>
          </a:p>
        </p:txBody>
      </p:sp>
      <p:sp>
        <p:nvSpPr>
          <p:cNvPr id="55" name="Google Shape;55;p1"/>
          <p:cNvSpPr txBox="1"/>
          <p:nvPr/>
        </p:nvSpPr>
        <p:spPr>
          <a:xfrm>
            <a:off x="2104350" y="3689500"/>
            <a:ext cx="4935300" cy="12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 dirty="0">
                <a:solidFill>
                  <a:schemeClr val="dk1"/>
                </a:solidFill>
              </a:rPr>
              <a:t>Wenjie Jiang</a:t>
            </a:r>
            <a:endParaRPr b="1" dirty="0"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0" u="none" strike="noStrike" cap="none" dirty="0">
                <a:solidFill>
                  <a:schemeClr val="dk1"/>
                </a:solidFill>
              </a:rPr>
              <a:t>Advisor:</a:t>
            </a:r>
            <a:r>
              <a:rPr lang="en" b="1" dirty="0">
                <a:solidFill>
                  <a:schemeClr val="dk1"/>
                </a:solidFill>
              </a:rPr>
              <a:t> </a:t>
            </a:r>
            <a:r>
              <a:rPr lang="en" b="1" i="0" u="none" strike="noStrike" cap="none" dirty="0">
                <a:solidFill>
                  <a:schemeClr val="dk1"/>
                </a:solidFill>
              </a:rPr>
              <a:t>Navid Amini</a:t>
            </a:r>
            <a:r>
              <a:rPr lang="en" b="1" dirty="0">
                <a:solidFill>
                  <a:schemeClr val="dk1"/>
                </a:solidFill>
              </a:rPr>
              <a:t>, PhD</a:t>
            </a:r>
            <a:endParaRPr b="1" i="0" u="none" strike="noStrike" cap="none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0" u="none" strike="noStrike" cap="none" dirty="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August 2026</a:t>
            </a:r>
            <a:br>
              <a:rPr lang="en" sz="11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>
            <a:spLocks noGrp="1"/>
          </p:cNvSpPr>
          <p:nvPr>
            <p:ph type="title"/>
          </p:nvPr>
        </p:nvSpPr>
        <p:spPr>
          <a:xfrm>
            <a:off x="510136" y="596075"/>
            <a:ext cx="6627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400" b="1"/>
              <a:t>The Overall Project Scope and Objectives</a:t>
            </a:r>
            <a:endParaRPr sz="2400" b="1"/>
          </a:p>
        </p:txBody>
      </p:sp>
      <p:sp>
        <p:nvSpPr>
          <p:cNvPr id="61" name="Google Shape;61;p2"/>
          <p:cNvSpPr txBox="1">
            <a:spLocks noGrp="1"/>
          </p:cNvSpPr>
          <p:nvPr>
            <p:ph type="body" idx="1"/>
          </p:nvPr>
        </p:nvSpPr>
        <p:spPr>
          <a:xfrm>
            <a:off x="309050" y="1444917"/>
            <a:ext cx="5524500" cy="10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2D Unity simulation, single-room greybox environment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Two agents sharing identical bodies, differing in decision brain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dirty="0">
                <a:solidFill>
                  <a:schemeClr val="dk1"/>
                </a:solidFill>
              </a:rPr>
              <a:t>Shared needs: hunger and energy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endParaRPr sz="1125" dirty="0"/>
          </a:p>
        </p:txBody>
      </p:sp>
      <p:sp>
        <p:nvSpPr>
          <p:cNvPr id="63" name="Google Shape;63;p2"/>
          <p:cNvSpPr txBox="1"/>
          <p:nvPr/>
        </p:nvSpPr>
        <p:spPr>
          <a:xfrm>
            <a:off x="383125" y="3909275"/>
            <a:ext cx="76200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b="1" dirty="0">
                <a:solidFill>
                  <a:schemeClr val="dk1"/>
                </a:solidFill>
              </a:rPr>
              <a:t>Stability </a:t>
            </a:r>
            <a:r>
              <a:rPr lang="en" dirty="0">
                <a:solidFill>
                  <a:schemeClr val="dk1"/>
                </a:solidFill>
              </a:rPr>
              <a:t>— consistent behavior, preventing behavioral oscillation between actions</a:t>
            </a: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b="1" dirty="0">
                <a:solidFill>
                  <a:schemeClr val="dk1"/>
                </a:solidFill>
              </a:rPr>
              <a:t>Adaptability </a:t>
            </a:r>
            <a:r>
              <a:rPr lang="en" dirty="0">
                <a:solidFill>
                  <a:schemeClr val="dk1"/>
                </a:solidFill>
              </a:rPr>
              <a:t>— dynamically adjusts behavior when resources are removed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510125" y="1168775"/>
            <a:ext cx="10584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800" b="1">
                <a:solidFill>
                  <a:schemeClr val="dk1"/>
                </a:solidFill>
              </a:rPr>
              <a:t>Scope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487700" y="2524317"/>
            <a:ext cx="147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800" b="1" dirty="0">
                <a:solidFill>
                  <a:schemeClr val="dk1"/>
                </a:solidFill>
              </a:rPr>
              <a:t>Objectives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26025" y="3137249"/>
            <a:ext cx="8134200" cy="7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 dirty="0">
                <a:solidFill>
                  <a:schemeClr val="dk1"/>
                </a:solidFill>
              </a:rPr>
              <a:t>We compare a baseline threshold agent (rigid) against a utility-scored agent (fluid) across stability and adaptability metrics</a:t>
            </a:r>
            <a:endParaRPr sz="1800" i="1" dirty="0">
              <a:solidFill>
                <a:schemeClr val="dk2"/>
              </a:solidFill>
            </a:endParaRPr>
          </a:p>
        </p:txBody>
      </p:sp>
      <p:sp>
        <p:nvSpPr>
          <p:cNvPr id="67" name="Google Shape;67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40EA79-7E7D-74C8-A8FF-DCA8202EB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230" y="1149558"/>
            <a:ext cx="1389264" cy="19876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title"/>
          </p:nvPr>
        </p:nvSpPr>
        <p:spPr>
          <a:xfrm>
            <a:off x="472525" y="57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400" b="1"/>
              <a:t>Proposed Methodology and Technical Approach</a:t>
            </a:r>
            <a:endParaRPr sz="2400" b="1"/>
          </a:p>
        </p:txBody>
      </p:sp>
      <p:sp>
        <p:nvSpPr>
          <p:cNvPr id="73" name="Google Shape;73;p3"/>
          <p:cNvSpPr txBox="1">
            <a:spLocks noGrp="1"/>
          </p:cNvSpPr>
          <p:nvPr>
            <p:ph type="body" idx="1"/>
          </p:nvPr>
        </p:nvSpPr>
        <p:spPr>
          <a:xfrm>
            <a:off x="388850" y="1175025"/>
            <a:ext cx="2925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chemeClr val="dk1"/>
                </a:solidFill>
              </a:rPr>
              <a:t>Experimental Method</a:t>
            </a:r>
            <a:endParaRPr sz="7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300">
              <a:solidFill>
                <a:schemeClr val="dk1"/>
              </a:solidFill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298525" y="1635275"/>
            <a:ext cx="6328800" cy="10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Same body, different brains — measured on stability and adaptability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Baseline </a:t>
            </a:r>
            <a:r>
              <a:rPr lang="en">
                <a:solidFill>
                  <a:schemeClr val="dk1"/>
                </a:solidFill>
              </a:rPr>
              <a:t>— priority-ordered threshold rules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Utility </a:t>
            </a:r>
            <a:r>
              <a:rPr lang="en">
                <a:solidFill>
                  <a:schemeClr val="dk1"/>
                </a:solidFill>
              </a:rPr>
              <a:t>— response curves + action inertia (highest-scoring action wins)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298525" y="3242675"/>
            <a:ext cx="6154800" cy="10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Swappable brain component — same body, plug in Baseline or Utility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ScriptableObject data layer — Needs, Curves, Smart Objects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Pull-based perception — agent scans world each decision cycle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388850" y="2832320"/>
            <a:ext cx="45084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Technical Approach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8E6AE3-81C8-1289-B4E9-61333F3F6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479" y="3722023"/>
            <a:ext cx="1507687" cy="969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330EA6-DF2F-CEF7-3E5B-1C5C63108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175" y="3026645"/>
            <a:ext cx="1206633" cy="12459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934372-86B0-45DE-1266-CECBFF8C3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017" y="1131233"/>
            <a:ext cx="1324497" cy="18307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title"/>
          </p:nvPr>
        </p:nvSpPr>
        <p:spPr>
          <a:xfrm>
            <a:off x="409325" y="605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400" b="1"/>
              <a:t>Expected Challenges and Risks</a:t>
            </a:r>
            <a:endParaRPr sz="2400" b="1"/>
          </a:p>
        </p:txBody>
      </p:sp>
      <p:sp>
        <p:nvSpPr>
          <p:cNvPr id="86" name="Google Shape;86;p4"/>
          <p:cNvSpPr txBox="1">
            <a:spLocks noGrp="1"/>
          </p:cNvSpPr>
          <p:nvPr>
            <p:ph type="body" idx="1"/>
          </p:nvPr>
        </p:nvSpPr>
        <p:spPr>
          <a:xfrm>
            <a:off x="409325" y="1178550"/>
            <a:ext cx="4119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1. Inertia Tuning: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87" name="Google Shape;8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5431250" y="1225625"/>
            <a:ext cx="31335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Too strong </a:t>
            </a:r>
            <a:r>
              <a:rPr lang="en">
                <a:solidFill>
                  <a:schemeClr val="dk1"/>
                </a:solidFill>
              </a:rPr>
              <a:t>→ agent sleeps through survival emergencies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Too weak</a:t>
            </a:r>
            <a:r>
              <a:rPr lang="en">
                <a:solidFill>
                  <a:schemeClr val="dk1"/>
                </a:solidFill>
              </a:rPr>
              <a:t> → agent jitters between actions every cycle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5431250" y="3234925"/>
            <a:ext cx="3408600" cy="18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Stability</a:t>
            </a:r>
            <a:r>
              <a:rPr lang="en">
                <a:solidFill>
                  <a:schemeClr val="dk1"/>
                </a:solidFill>
              </a:rPr>
              <a:t> → can be gamed (idle agents score perfectly)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Adaptability </a:t>
            </a:r>
            <a:r>
              <a:rPr lang="en">
                <a:solidFill>
                  <a:schemeClr val="dk1"/>
                </a:solidFill>
              </a:rPr>
              <a:t>→ depends on how tests are designed (easy or hard scenarios yield no signal)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112925" y="1708425"/>
            <a:ext cx="3950400" cy="13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Action inertia is a score bonus on the currently-active action in the utility agent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112925" y="3400550"/>
            <a:ext cx="37689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Stability and adaptability are numeric proxies for “believable behavior”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409325" y="2922275"/>
            <a:ext cx="3357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2. Metric Validity: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010675" y="3494975"/>
            <a:ext cx="1561500" cy="63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010675" y="1550525"/>
            <a:ext cx="1561500" cy="63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title"/>
          </p:nvPr>
        </p:nvSpPr>
        <p:spPr>
          <a:xfrm>
            <a:off x="404850" y="560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400" b="1"/>
              <a:t>Review of Existing Work in this Area</a:t>
            </a:r>
            <a:endParaRPr sz="2400" b="1"/>
          </a:p>
        </p:txBody>
      </p:sp>
      <p:sp>
        <p:nvSpPr>
          <p:cNvPr id="100" name="Google Shape;100;p5"/>
          <p:cNvSpPr txBox="1">
            <a:spLocks noGrp="1"/>
          </p:cNvSpPr>
          <p:nvPr>
            <p:ph type="body" idx="1"/>
          </p:nvPr>
        </p:nvSpPr>
        <p:spPr>
          <a:xfrm>
            <a:off x="502975" y="1040325"/>
            <a:ext cx="67566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1400" b="1" dirty="0">
                <a:solidFill>
                  <a:schemeClr val="dk1"/>
                </a:solidFill>
              </a:rPr>
              <a:t>Emergent NPC decision-making: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i="1" dirty="0">
                <a:solidFill>
                  <a:schemeClr val="dk1"/>
                </a:solidFill>
              </a:rPr>
              <a:t>a</a:t>
            </a:r>
            <a:r>
              <a:rPr lang="en" sz="1400" i="1" dirty="0">
                <a:solidFill>
                  <a:schemeClr val="dk1"/>
                </a:solidFill>
              </a:rPr>
              <a:t>ims for stable, adaptive behavior without a scripted response for every situation</a:t>
            </a:r>
            <a:endParaRPr sz="1400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i="1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7200"/>
              <a:buNone/>
            </a:pP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101" name="Google Shape;10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aphicFrame>
        <p:nvGraphicFramePr>
          <p:cNvPr id="102" name="Google Shape;102;p5"/>
          <p:cNvGraphicFramePr/>
          <p:nvPr/>
        </p:nvGraphicFramePr>
        <p:xfrm>
          <a:off x="484000" y="1794025"/>
          <a:ext cx="8176000" cy="2649540"/>
        </p:xfrm>
        <a:graphic>
          <a:graphicData uri="http://schemas.openxmlformats.org/drawingml/2006/table">
            <a:tbl>
              <a:tblPr>
                <a:noFill/>
                <a:tableStyleId>{52DF37E5-E82F-4FF7-88F0-F29DEB3028E2}</a:tableStyleId>
              </a:tblPr>
              <a:tblGrid>
                <a:gridCol w="408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37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Two Dominant Approaches</a:t>
                      </a:r>
                      <a:endParaRPr b="1"/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Lightweight / Classical (Utility AI)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Heavy / Generative (LLM-driven agents)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00">
                <a:tc rowSpan="3"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Agents score each action mathematically, pick the highest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Textbook defines response curves and action inertia, but never tests how much each one contributes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 rowSpan="3"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LLM agents plan, remember, and socialize believably (25-NPC sandbox study)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3175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Each decision is a cloud API call, making the approach expensive and non-reproducible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3" name="Google Shape;103;p5"/>
          <p:cNvSpPr txBox="1"/>
          <p:nvPr/>
        </p:nvSpPr>
        <p:spPr>
          <a:xfrm>
            <a:off x="502975" y="4431125"/>
            <a:ext cx="1517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2"/>
                </a:solidFill>
              </a:rPr>
              <a:t>(Mark, 2009)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7412825" y="4431125"/>
            <a:ext cx="1380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(Park et al., 2023)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534275" y="545250"/>
            <a:ext cx="66324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400" b="1"/>
              <a:t>How Our Approach Addresses Limitations of Existing Models</a:t>
            </a:r>
            <a:endParaRPr sz="24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endParaRPr sz="2466"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629549" y="1299241"/>
            <a:ext cx="8218459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</a:rPr>
              <a:t>Our approach aims to address this limitation by empirically isolating response curves and action inertia</a:t>
            </a: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12" name="Google Shape;112;p7"/>
          <p:cNvSpPr txBox="1"/>
          <p:nvPr/>
        </p:nvSpPr>
        <p:spPr>
          <a:xfrm>
            <a:off x="503130" y="4427400"/>
            <a:ext cx="10776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(Mark, 2009)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13" name="Google Shape;113;p7"/>
          <p:cNvGraphicFramePr/>
          <p:nvPr>
            <p:extLst>
              <p:ext uri="{D42A27DB-BD31-4B8C-83A1-F6EECF244321}">
                <p14:modId xmlns:p14="http://schemas.microsoft.com/office/powerpoint/2010/main" val="2981089676"/>
              </p:ext>
            </p:extLst>
          </p:nvPr>
        </p:nvGraphicFramePr>
        <p:xfrm>
          <a:off x="495758" y="1770188"/>
          <a:ext cx="8352250" cy="2651640"/>
        </p:xfrm>
        <a:graphic>
          <a:graphicData uri="http://schemas.openxmlformats.org/drawingml/2006/table">
            <a:tbl>
              <a:tblPr>
                <a:noFill/>
                <a:tableStyleId>{52DF37E5-E82F-4FF7-88F0-F29DEB3028E2}</a:tableStyleId>
              </a:tblPr>
              <a:tblGrid>
                <a:gridCol w="417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Utility AI Foundations</a:t>
                      </a:r>
                      <a:endParaRPr b="1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Our Approach</a:t>
                      </a:r>
                      <a:endParaRPr b="1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Response curves: math mapping need to desire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Baseline vs. curves-only</a:t>
                      </a:r>
                      <a:r>
                        <a:rPr lang="en"/>
                        <a:t>: measures the curve's contribution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Action inertia (decision momentum): commitment bonus on active action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Baseline vs. inertia-only</a:t>
                      </a:r>
                      <a:r>
                        <a:rPr lang="en"/>
                        <a:t>: measures inertia's contribution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1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Established design tools; empirical isolation remains open</a:t>
                      </a:r>
                      <a:endParaRPr/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Full 4-condition ablation:</a:t>
                      </a:r>
                      <a:r>
                        <a:rPr lang="en" dirty="0"/>
                        <a:t> quantifies each mechanism's effect on stability and adaptability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>
            <a:spLocks noGrp="1"/>
          </p:cNvSpPr>
          <p:nvPr>
            <p:ph type="title"/>
          </p:nvPr>
        </p:nvSpPr>
        <p:spPr>
          <a:xfrm>
            <a:off x="426575" y="57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400" b="1" dirty="0"/>
              <a:t>Potential Improvements over Current Techniques</a:t>
            </a:r>
            <a:endParaRPr sz="2400" b="1" dirty="0"/>
          </a:p>
        </p:txBody>
      </p:sp>
      <p:sp>
        <p:nvSpPr>
          <p:cNvPr id="119" name="Google Shape;11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20" name="Google Shape;120;p8"/>
          <p:cNvSpPr txBox="1"/>
          <p:nvPr/>
        </p:nvSpPr>
        <p:spPr>
          <a:xfrm>
            <a:off x="592800" y="1152475"/>
            <a:ext cx="63366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We aim to move established utility AI from description to measurement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71550" y="1620175"/>
            <a:ext cx="2469000" cy="301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</a:rPr>
              <a:t>Mechanism contributions:</a:t>
            </a:r>
            <a:r>
              <a:rPr lang="en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measure how curves and inertia each affect stability and adaptability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3337500" y="1620175"/>
            <a:ext cx="2469000" cy="301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Interaction effects:</a:t>
            </a:r>
            <a:endParaRPr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test whether curves and inertia compound, add, or interfere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003450" y="1620175"/>
            <a:ext cx="2469000" cy="3017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Design guidance: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may suggest preliminary tuning cues for curves and inertia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E6372C03-B0B4-C501-0257-FE761E0A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>
            <a:extLst>
              <a:ext uri="{FF2B5EF4-FFF2-40B4-BE49-F238E27FC236}">
                <a16:creationId xmlns:a16="http://schemas.microsoft.com/office/drawing/2014/main" id="{07D35115-6A7F-27D7-9EA1-E1A16F79CE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6575" y="57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3111"/>
            </a:pPr>
            <a:r>
              <a:rPr lang="en-US" sz="2400" b="1" dirty="0"/>
              <a:t>Pilot Testing and Findings</a:t>
            </a:r>
            <a:endParaRPr sz="2400" b="1" dirty="0"/>
          </a:p>
        </p:txBody>
      </p:sp>
      <p:sp>
        <p:nvSpPr>
          <p:cNvPr id="119" name="Google Shape;119;p8">
            <a:extLst>
              <a:ext uri="{FF2B5EF4-FFF2-40B4-BE49-F238E27FC236}">
                <a16:creationId xmlns:a16="http://schemas.microsoft.com/office/drawing/2014/main" id="{5B1E2CC8-C758-2436-79CA-3BB463A65B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20" name="Google Shape;120;p8">
            <a:extLst>
              <a:ext uri="{FF2B5EF4-FFF2-40B4-BE49-F238E27FC236}">
                <a16:creationId xmlns:a16="http://schemas.microsoft.com/office/drawing/2014/main" id="{65151643-0691-EFD4-4847-B6C297B1A861}"/>
              </a:ext>
            </a:extLst>
          </p:cNvPr>
          <p:cNvSpPr txBox="1"/>
          <p:nvPr/>
        </p:nvSpPr>
        <p:spPr>
          <a:xfrm>
            <a:off x="592800" y="1152475"/>
            <a:ext cx="6336600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dk1"/>
                </a:solidFill>
              </a:rPr>
              <a:t>The measurement pipeline is in use. Ten runs recorded, eight of them repeats of one corrected configuration.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B86BCD1-55DB-027A-61AF-8D071E9CF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80040"/>
              </p:ext>
            </p:extLst>
          </p:nvPr>
        </p:nvGraphicFramePr>
        <p:xfrm>
          <a:off x="592800" y="2018370"/>
          <a:ext cx="3559526" cy="1737360"/>
        </p:xfrm>
        <a:graphic>
          <a:graphicData uri="http://schemas.openxmlformats.org/drawingml/2006/table">
            <a:tbl>
              <a:tblPr firstRow="1" bandRow="1">
                <a:tableStyleId>{52DF37E5-E82F-4FF7-88F0-F29DEB3028E2}</a:tableStyleId>
              </a:tblPr>
              <a:tblGrid>
                <a:gridCol w="1308076">
                  <a:extLst>
                    <a:ext uri="{9D8B030D-6E8A-4147-A177-3AD203B41FA5}">
                      <a16:colId xmlns:a16="http://schemas.microsoft.com/office/drawing/2014/main" val="1029067552"/>
                    </a:ext>
                  </a:extLst>
                </a:gridCol>
                <a:gridCol w="1064942">
                  <a:extLst>
                    <a:ext uri="{9D8B030D-6E8A-4147-A177-3AD203B41FA5}">
                      <a16:colId xmlns:a16="http://schemas.microsoft.com/office/drawing/2014/main" val="2928668017"/>
                    </a:ext>
                  </a:extLst>
                </a:gridCol>
                <a:gridCol w="1186508">
                  <a:extLst>
                    <a:ext uri="{9D8B030D-6E8A-4147-A177-3AD203B41FA5}">
                      <a16:colId xmlns:a16="http://schemas.microsoft.com/office/drawing/2014/main" val="3643515676"/>
                    </a:ext>
                  </a:extLst>
                </a:gridCol>
              </a:tblGrid>
              <a:tr h="2891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Utility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606958"/>
                  </a:ext>
                </a:extLst>
              </a:tr>
              <a:tr h="289141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Decisions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46.0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45.5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891731"/>
                  </a:ext>
                </a:extLst>
              </a:tr>
              <a:tr h="289141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Interruptions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12.6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9.6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629797"/>
                  </a:ext>
                </a:extLst>
              </a:tr>
              <a:tr h="337413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Interruption rate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21%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350290"/>
                  </a:ext>
                </a:extLst>
              </a:tr>
              <a:tr h="289141">
                <a:tc gridSpan="3">
                  <a:txBody>
                    <a:bodyPr/>
                    <a:lstStyle/>
                    <a:p>
                      <a:r>
                        <a:rPr lang="en-US" dirty="0"/>
                        <a:t>8 repeats, 300 simulated seconds each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36919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B323597-6CB1-7396-9310-66F8E5692EDA}"/>
              </a:ext>
            </a:extLst>
          </p:cNvPr>
          <p:cNvSpPr txBox="1"/>
          <p:nvPr/>
        </p:nvSpPr>
        <p:spPr>
          <a:xfrm>
            <a:off x="5324229" y="1684918"/>
            <a:ext cx="369692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Two design flaws were corrected:</a:t>
            </a:r>
          </a:p>
          <a:p>
            <a:r>
              <a:rPr lang="en-US" altLang="zh-CN" dirty="0"/>
              <a:t>t</a:t>
            </a:r>
            <a:r>
              <a:rPr lang="en-US" dirty="0"/>
              <a:t>he agents began acting at different need levels, and a shared action lock was</a:t>
            </a:r>
          </a:p>
          <a:p>
            <a:r>
              <a:rPr lang="en-US" dirty="0"/>
              <a:t>doing part of inertia's work</a:t>
            </a:r>
          </a:p>
          <a:p>
            <a:endParaRPr lang="en-US" dirty="0"/>
          </a:p>
          <a:p>
            <a:r>
              <a:rPr lang="en-US" b="1" dirty="0"/>
              <a:t>First measured effect:</a:t>
            </a:r>
          </a:p>
          <a:p>
            <a:r>
              <a:rPr lang="en-US" altLang="zh-CN" dirty="0"/>
              <a:t>a</a:t>
            </a:r>
            <a:r>
              <a:rPr lang="en-US" dirty="0"/>
              <a:t>t equal decision volume, the utility agent interrupted its own actions 24% less</a:t>
            </a:r>
          </a:p>
          <a:p>
            <a:r>
              <a:rPr lang="en-US" dirty="0"/>
              <a:t>often; the direction held in 8 of 8 repeats</a:t>
            </a:r>
          </a:p>
          <a:p>
            <a:endParaRPr lang="en-US" dirty="0"/>
          </a:p>
          <a:p>
            <a:r>
              <a:rPr lang="en-US" b="1" dirty="0"/>
              <a:t>The effect cannot yet be attributed:</a:t>
            </a:r>
          </a:p>
          <a:p>
            <a:r>
              <a:rPr lang="en-US" altLang="zh-CN" dirty="0"/>
              <a:t>c</a:t>
            </a:r>
            <a:r>
              <a:rPr lang="en-US" dirty="0"/>
              <a:t>urves and inertia varied together, so the result belongs to the pair rather</a:t>
            </a:r>
          </a:p>
          <a:p>
            <a:r>
              <a:rPr lang="en-US" dirty="0"/>
              <a:t>than to either mechanism</a:t>
            </a:r>
          </a:p>
        </p:txBody>
      </p:sp>
      <p:sp>
        <p:nvSpPr>
          <p:cNvPr id="10" name="Google Shape;94;p4">
            <a:extLst>
              <a:ext uri="{FF2B5EF4-FFF2-40B4-BE49-F238E27FC236}">
                <a16:creationId xmlns:a16="http://schemas.microsoft.com/office/drawing/2014/main" id="{CDA8A201-2326-A134-DC55-6668FCD480E3}"/>
              </a:ext>
            </a:extLst>
          </p:cNvPr>
          <p:cNvSpPr/>
          <p:nvPr/>
        </p:nvSpPr>
        <p:spPr>
          <a:xfrm>
            <a:off x="4259207" y="2571750"/>
            <a:ext cx="958141" cy="630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9434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>
            <a:spLocks noGrp="1"/>
          </p:cNvSpPr>
          <p:nvPr>
            <p:ph type="title"/>
          </p:nvPr>
        </p:nvSpPr>
        <p:spPr>
          <a:xfrm>
            <a:off x="455275" y="57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2400" b="1" dirty="0"/>
              <a:t>A Tentative Timeline for Completion</a:t>
            </a:r>
            <a:endParaRPr sz="2400" b="1" dirty="0"/>
          </a:p>
        </p:txBody>
      </p:sp>
      <p:sp>
        <p:nvSpPr>
          <p:cNvPr id="129" name="Google Shape;129;p9"/>
          <p:cNvSpPr txBox="1">
            <a:spLocks noGrp="1"/>
          </p:cNvSpPr>
          <p:nvPr>
            <p:ph type="body" idx="1"/>
          </p:nvPr>
        </p:nvSpPr>
        <p:spPr>
          <a:xfrm>
            <a:off x="836800" y="1400075"/>
            <a:ext cx="7317600" cy="29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7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200"/>
              <a:buNone/>
            </a:pPr>
            <a:endParaRPr dirty="0"/>
          </a:p>
        </p:txBody>
      </p:sp>
      <p:sp>
        <p:nvSpPr>
          <p:cNvPr id="130" name="Google Shape;13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455275" y="1152475"/>
            <a:ext cx="3840600" cy="3474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Completed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Spring 2026</a:t>
            </a:r>
          </a:p>
          <a:p>
            <a:r>
              <a:rPr lang="en-US" altLang="zh-CN" dirty="0"/>
              <a:t>S</a:t>
            </a:r>
            <a:r>
              <a:rPr lang="en-US" dirty="0"/>
              <a:t>imulation foundation, swappable-brain architecture, both agents, live demo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Summer 2026</a:t>
            </a:r>
          </a:p>
          <a:p>
            <a:r>
              <a:rPr lang="en-US" b="1" dirty="0"/>
              <a:t>Measurement pipeline:</a:t>
            </a:r>
          </a:p>
          <a:p>
            <a:r>
              <a:rPr lang="en-US" dirty="0"/>
              <a:t>every decision logged, and every run records its full parameter set</a:t>
            </a:r>
          </a:p>
          <a:p>
            <a:endParaRPr lang="en-US" b="1" dirty="0"/>
          </a:p>
          <a:p>
            <a:r>
              <a:rPr lang="en-US" b="1" dirty="0"/>
              <a:t>Pilot runs:</a:t>
            </a:r>
          </a:p>
          <a:p>
            <a:r>
              <a:rPr lang="en-US" dirty="0"/>
              <a:t>10 recorded, 8 of them repeats of one corrected configuration</a:t>
            </a:r>
          </a:p>
        </p:txBody>
      </p:sp>
      <p:sp>
        <p:nvSpPr>
          <p:cNvPr id="132" name="Google Shape;132;p9"/>
          <p:cNvSpPr/>
          <p:nvPr/>
        </p:nvSpPr>
        <p:spPr>
          <a:xfrm>
            <a:off x="4572000" y="1152475"/>
            <a:ext cx="3900458" cy="3657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Fall 2026 Planned</a:t>
            </a:r>
            <a:endParaRPr b="1" dirty="0"/>
          </a:p>
          <a:p>
            <a:r>
              <a:rPr lang="en-US" b="1" dirty="0"/>
              <a:t>Stability metric:</a:t>
            </a:r>
          </a:p>
          <a:p>
            <a:r>
              <a:rPr lang="en-US" dirty="0"/>
              <a:t>separate harmful oscillation from justified switching</a:t>
            </a:r>
          </a:p>
          <a:p>
            <a:endParaRPr lang="en-US" b="1" dirty="0"/>
          </a:p>
          <a:p>
            <a:r>
              <a:rPr lang="en-US" b="1" dirty="0"/>
              <a:t>Adaptability scenario:</a:t>
            </a:r>
          </a:p>
          <a:p>
            <a:r>
              <a:rPr lang="en-US" dirty="0"/>
              <a:t>resource removal, so competing needs actually  arise</a:t>
            </a:r>
          </a:p>
          <a:p>
            <a:endParaRPr lang="en-US" b="1" dirty="0"/>
          </a:p>
          <a:p>
            <a:r>
              <a:rPr lang="en-US" b="1" dirty="0"/>
              <a:t>Seeded randomization:</a:t>
            </a:r>
          </a:p>
          <a:p>
            <a:r>
              <a:rPr lang="en-US" dirty="0"/>
              <a:t>sample across starting conditions, not timing noise</a:t>
            </a:r>
          </a:p>
          <a:p>
            <a:endParaRPr lang="en-US" b="1" dirty="0"/>
          </a:p>
          <a:p>
            <a:r>
              <a:rPr lang="en-US" b="1" dirty="0"/>
              <a:t>Four-condition ablation:</a:t>
            </a:r>
          </a:p>
          <a:p>
            <a:r>
              <a:rPr lang="en-US" dirty="0"/>
              <a:t>separate the curve's contribution from inertia's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83d978854_4_31"/>
          <p:cNvSpPr txBox="1">
            <a:spLocks noGrp="1"/>
          </p:cNvSpPr>
          <p:nvPr>
            <p:ph type="title"/>
          </p:nvPr>
        </p:nvSpPr>
        <p:spPr>
          <a:xfrm>
            <a:off x="500550" y="579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References</a:t>
            </a:r>
            <a:endParaRPr sz="2400" b="1"/>
          </a:p>
        </p:txBody>
      </p:sp>
      <p:sp>
        <p:nvSpPr>
          <p:cNvPr id="138" name="Google Shape;138;g3d83d978854_4_31"/>
          <p:cNvSpPr txBox="1">
            <a:spLocks noGrp="1"/>
          </p:cNvSpPr>
          <p:nvPr>
            <p:ph type="body" idx="1"/>
          </p:nvPr>
        </p:nvSpPr>
        <p:spPr>
          <a:xfrm>
            <a:off x="311700" y="1510850"/>
            <a:ext cx="8520600" cy="30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Mark, D. (2009). </a:t>
            </a:r>
            <a:r>
              <a:rPr lang="en" sz="1400" i="1">
                <a:solidFill>
                  <a:schemeClr val="dk1"/>
                </a:solidFill>
              </a:rPr>
              <a:t>Behavioral Mathematics for Game AI.</a:t>
            </a:r>
            <a:r>
              <a:rPr lang="en" sz="1400">
                <a:solidFill>
                  <a:schemeClr val="dk1"/>
                </a:solidFill>
              </a:rPr>
              <a:t> Course Technology/Cengage.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4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Park, J. S., O'Brien, J. C., Cai, C. J., Morris, M. R., Liang, P., &amp; Bernstein, M. S. (2023). </a:t>
            </a:r>
            <a:r>
              <a:rPr lang="en" sz="1400" i="1">
                <a:solidFill>
                  <a:schemeClr val="dk1"/>
                </a:solidFill>
              </a:rPr>
              <a:t>Generative agents: Interactive simulacra of human behavior</a:t>
            </a:r>
            <a:r>
              <a:rPr lang="en" sz="1400">
                <a:solidFill>
                  <a:schemeClr val="dk1"/>
                </a:solidFill>
              </a:rPr>
              <a:t> (arXiv:2304.03442). arXiv. </a:t>
            </a:r>
            <a:r>
              <a:rPr lang="en" sz="14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https://arxiv.org/abs/2304.03442</a:t>
            </a:r>
            <a:r>
              <a:rPr lang="en" sz="1400">
                <a:solidFill>
                  <a:srgbClr val="0000FF"/>
                </a:solidFill>
              </a:rPr>
              <a:t> </a:t>
            </a:r>
            <a:endParaRPr sz="1400" u="sng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d83d978854_4_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5555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802</Words>
  <Application>Microsoft Office PowerPoint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Response Curves and Action Inertia in Utility-Based NPC Agents</vt:lpstr>
      <vt:lpstr>The Overall Project Scope and Objectives</vt:lpstr>
      <vt:lpstr>Proposed Methodology and Technical Approach</vt:lpstr>
      <vt:lpstr>Expected Challenges and Risks</vt:lpstr>
      <vt:lpstr>Review of Existing Work in this Area</vt:lpstr>
      <vt:lpstr>How Our Approach Addresses Limitations of Existing Models </vt:lpstr>
      <vt:lpstr>Potential Improvements over Current Techniques</vt:lpstr>
      <vt:lpstr>Pilot Testing and Findings</vt:lpstr>
      <vt:lpstr>A Tentative Timeline for Completion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wenjie jiang</dc:creator>
  <cp:lastModifiedBy>Jiang, Wenjie</cp:lastModifiedBy>
  <cp:revision>7</cp:revision>
  <dcterms:modified xsi:type="dcterms:W3CDTF">2026-08-07T12:16:29Z</dcterms:modified>
</cp:coreProperties>
</file>