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jhXBMYxZ4WvKmTGF4UVYOSy2IR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63BF50-8B70-47AF-9712-C4A8D0ABD1C9}" v="4" dt="2026-10-28T08:57:31.144"/>
  </p1510:revLst>
</p1510:revInfo>
</file>

<file path=ppt/tableStyles.xml><?xml version="1.0" encoding="utf-8"?>
<a:tblStyleLst xmlns:a="http://schemas.openxmlformats.org/drawingml/2006/main" def="{629DBEC2-58FE-42DA-915E-554960D095A8}">
  <a:tblStyle styleId="{629DBEC2-58FE-42DA-915E-554960D095A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96" y="16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njie jiang" userId="be32da44095649c9" providerId="LiveId" clId="{1C4DA2E3-8449-4E93-8194-94B48D8DB337}"/>
    <pc:docChg chg="undo custSel modSld">
      <pc:chgData name="wenjie jiang" userId="be32da44095649c9" providerId="LiveId" clId="{1C4DA2E3-8449-4E93-8194-94B48D8DB337}" dt="2026-10-28T09:08:31.452" v="164" actId="20577"/>
      <pc:docMkLst>
        <pc:docMk/>
      </pc:docMkLst>
      <pc:sldChg chg="modSp mod">
        <pc:chgData name="wenjie jiang" userId="be32da44095649c9" providerId="LiveId" clId="{1C4DA2E3-8449-4E93-8194-94B48D8DB337}" dt="2026-10-28T08:21:49.009" v="8" actId="20577"/>
        <pc:sldMkLst>
          <pc:docMk/>
          <pc:sldMk cId="0" sldId="256"/>
        </pc:sldMkLst>
        <pc:spChg chg="mod">
          <ac:chgData name="wenjie jiang" userId="be32da44095649c9" providerId="LiveId" clId="{1C4DA2E3-8449-4E93-8194-94B48D8DB337}" dt="2026-10-28T08:21:49.009" v="8" actId="20577"/>
          <ac:spMkLst>
            <pc:docMk/>
            <pc:sldMk cId="0" sldId="256"/>
            <ac:spMk id="55" creationId="{00000000-0000-0000-0000-000000000000}"/>
          </ac:spMkLst>
        </pc:spChg>
      </pc:sldChg>
      <pc:sldChg chg="addSp delSp modSp mod">
        <pc:chgData name="wenjie jiang" userId="be32da44095649c9" providerId="LiveId" clId="{1C4DA2E3-8449-4E93-8194-94B48D8DB337}" dt="2026-10-28T09:01:41.859" v="134" actId="1076"/>
        <pc:sldMkLst>
          <pc:docMk/>
          <pc:sldMk cId="0" sldId="257"/>
        </pc:sldMkLst>
        <pc:spChg chg="add mod">
          <ac:chgData name="wenjie jiang" userId="be32da44095649c9" providerId="LiveId" clId="{1C4DA2E3-8449-4E93-8194-94B48D8DB337}" dt="2026-10-28T08:50:42.620" v="52" actId="1076"/>
          <ac:spMkLst>
            <pc:docMk/>
            <pc:sldMk cId="0" sldId="257"/>
            <ac:spMk id="6" creationId="{C31934A6-045B-1C99-9350-2932BA1EA301}"/>
          </ac:spMkLst>
        </pc:spChg>
        <pc:spChg chg="add del">
          <ac:chgData name="wenjie jiang" userId="be32da44095649c9" providerId="LiveId" clId="{1C4DA2E3-8449-4E93-8194-94B48D8DB337}" dt="2026-10-28T08:49:30.089" v="51" actId="22"/>
          <ac:spMkLst>
            <pc:docMk/>
            <pc:sldMk cId="0" sldId="257"/>
            <ac:spMk id="8" creationId="{6F6D2BE8-FFA0-1B2D-C917-8DA1E7A6BEC2}"/>
          </ac:spMkLst>
        </pc:spChg>
        <pc:spChg chg="mod">
          <ac:chgData name="wenjie jiang" userId="be32da44095649c9" providerId="LiveId" clId="{1C4DA2E3-8449-4E93-8194-94B48D8DB337}" dt="2026-10-28T08:46:24.460" v="32" actId="20577"/>
          <ac:spMkLst>
            <pc:docMk/>
            <pc:sldMk cId="0" sldId="257"/>
            <ac:spMk id="60" creationId="{00000000-0000-0000-0000-000000000000}"/>
          </ac:spMkLst>
        </pc:spChg>
        <pc:spChg chg="del mod">
          <ac:chgData name="wenjie jiang" userId="be32da44095649c9" providerId="LiveId" clId="{1C4DA2E3-8449-4E93-8194-94B48D8DB337}" dt="2026-10-28T09:00:32.196" v="120" actId="21"/>
          <ac:spMkLst>
            <pc:docMk/>
            <pc:sldMk cId="0" sldId="257"/>
            <ac:spMk id="61" creationId="{00000000-0000-0000-0000-000000000000}"/>
          </ac:spMkLst>
        </pc:spChg>
        <pc:spChg chg="del mod">
          <ac:chgData name="wenjie jiang" userId="be32da44095649c9" providerId="LiveId" clId="{1C4DA2E3-8449-4E93-8194-94B48D8DB337}" dt="2026-10-28T08:46:46.751" v="39" actId="21"/>
          <ac:spMkLst>
            <pc:docMk/>
            <pc:sldMk cId="0" sldId="257"/>
            <ac:spMk id="63" creationId="{00000000-0000-0000-0000-000000000000}"/>
          </ac:spMkLst>
        </pc:spChg>
        <pc:spChg chg="del">
          <ac:chgData name="wenjie jiang" userId="be32da44095649c9" providerId="LiveId" clId="{1C4DA2E3-8449-4E93-8194-94B48D8DB337}" dt="2026-10-28T08:46:37.644" v="34" actId="478"/>
          <ac:spMkLst>
            <pc:docMk/>
            <pc:sldMk cId="0" sldId="257"/>
            <ac:spMk id="64" creationId="{00000000-0000-0000-0000-000000000000}"/>
          </ac:spMkLst>
        </pc:spChg>
        <pc:spChg chg="mod">
          <ac:chgData name="wenjie jiang" userId="be32da44095649c9" providerId="LiveId" clId="{1C4DA2E3-8449-4E93-8194-94B48D8DB337}" dt="2026-10-28T08:46:39.491" v="35" actId="20577"/>
          <ac:spMkLst>
            <pc:docMk/>
            <pc:sldMk cId="0" sldId="257"/>
            <ac:spMk id="65" creationId="{00000000-0000-0000-0000-000000000000}"/>
          </ac:spMkLst>
        </pc:spChg>
        <pc:spChg chg="del mod">
          <ac:chgData name="wenjie jiang" userId="be32da44095649c9" providerId="LiveId" clId="{1C4DA2E3-8449-4E93-8194-94B48D8DB337}" dt="2026-10-28T08:46:48.420" v="40" actId="21"/>
          <ac:spMkLst>
            <pc:docMk/>
            <pc:sldMk cId="0" sldId="257"/>
            <ac:spMk id="66" creationId="{00000000-0000-0000-0000-000000000000}"/>
          </ac:spMkLst>
        </pc:spChg>
        <pc:picChg chg="del">
          <ac:chgData name="wenjie jiang" userId="be32da44095649c9" providerId="LiveId" clId="{1C4DA2E3-8449-4E93-8194-94B48D8DB337}" dt="2026-10-28T08:46:51.819" v="41" actId="21"/>
          <ac:picMkLst>
            <pc:docMk/>
            <pc:sldMk cId="0" sldId="257"/>
            <ac:picMk id="3" creationId="{9D42DB37-BBCB-111C-32CE-69D61A5FC37A}"/>
          </ac:picMkLst>
        </pc:picChg>
        <pc:picChg chg="add mod">
          <ac:chgData name="wenjie jiang" userId="be32da44095649c9" providerId="LiveId" clId="{1C4DA2E3-8449-4E93-8194-94B48D8DB337}" dt="2026-10-28T09:01:41.859" v="134" actId="1076"/>
          <ac:picMkLst>
            <pc:docMk/>
            <pc:sldMk cId="0" sldId="257"/>
            <ac:picMk id="4" creationId="{2906C371-C0AB-0D5C-19BA-520C96488621}"/>
          </ac:picMkLst>
        </pc:picChg>
      </pc:sldChg>
      <pc:sldChg chg="addSp delSp modSp mod">
        <pc:chgData name="wenjie jiang" userId="be32da44095649c9" providerId="LiveId" clId="{1C4DA2E3-8449-4E93-8194-94B48D8DB337}" dt="2026-10-28T09:08:31.452" v="164" actId="20577"/>
        <pc:sldMkLst>
          <pc:docMk/>
          <pc:sldMk cId="0" sldId="258"/>
        </pc:sldMkLst>
        <pc:spChg chg="add del mod">
          <ac:chgData name="wenjie jiang" userId="be32da44095649c9" providerId="LiveId" clId="{1C4DA2E3-8449-4E93-8194-94B48D8DB337}" dt="2026-10-28T08:56:07.923" v="62" actId="21"/>
          <ac:spMkLst>
            <pc:docMk/>
            <pc:sldMk cId="0" sldId="258"/>
            <ac:spMk id="3" creationId="{8C656B36-3195-E739-F955-2BD110476721}"/>
          </ac:spMkLst>
        </pc:spChg>
        <pc:spChg chg="mod">
          <ac:chgData name="wenjie jiang" userId="be32da44095649c9" providerId="LiveId" clId="{1C4DA2E3-8449-4E93-8194-94B48D8DB337}" dt="2026-10-28T09:08:31.452" v="164" actId="20577"/>
          <ac:spMkLst>
            <pc:docMk/>
            <pc:sldMk cId="0" sldId="258"/>
            <ac:spMk id="72" creationId="{00000000-0000-0000-0000-000000000000}"/>
          </ac:spMkLst>
        </pc:spChg>
        <pc:spChg chg="del">
          <ac:chgData name="wenjie jiang" userId="be32da44095649c9" providerId="LiveId" clId="{1C4DA2E3-8449-4E93-8194-94B48D8DB337}" dt="2026-10-28T08:56:01.831" v="60" actId="21"/>
          <ac:spMkLst>
            <pc:docMk/>
            <pc:sldMk cId="0" sldId="258"/>
            <ac:spMk id="73" creationId="{00000000-0000-0000-0000-000000000000}"/>
          </ac:spMkLst>
        </pc:spChg>
        <pc:spChg chg="del">
          <ac:chgData name="wenjie jiang" userId="be32da44095649c9" providerId="LiveId" clId="{1C4DA2E3-8449-4E93-8194-94B48D8DB337}" dt="2026-10-28T08:55:58.660" v="59" actId="21"/>
          <ac:spMkLst>
            <pc:docMk/>
            <pc:sldMk cId="0" sldId="258"/>
            <ac:spMk id="74" creationId="{00000000-0000-0000-0000-000000000000}"/>
          </ac:spMkLst>
        </pc:spChg>
        <pc:spChg chg="del">
          <ac:chgData name="wenjie jiang" userId="be32da44095649c9" providerId="LiveId" clId="{1C4DA2E3-8449-4E93-8194-94B48D8DB337}" dt="2026-10-28T08:56:13.284" v="64" actId="21"/>
          <ac:spMkLst>
            <pc:docMk/>
            <pc:sldMk cId="0" sldId="258"/>
            <ac:spMk id="75" creationId="{00000000-0000-0000-0000-000000000000}"/>
          </ac:spMkLst>
        </pc:spChg>
        <pc:spChg chg="del">
          <ac:chgData name="wenjie jiang" userId="be32da44095649c9" providerId="LiveId" clId="{1C4DA2E3-8449-4E93-8194-94B48D8DB337}" dt="2026-10-28T08:56:11.163" v="63" actId="21"/>
          <ac:spMkLst>
            <pc:docMk/>
            <pc:sldMk cId="0" sldId="258"/>
            <ac:spMk id="76" creationId="{00000000-0000-0000-0000-000000000000}"/>
          </ac:spMkLst>
        </pc:spChg>
        <pc:picChg chg="add mod">
          <ac:chgData name="wenjie jiang" userId="be32da44095649c9" providerId="LiveId" clId="{1C4DA2E3-8449-4E93-8194-94B48D8DB337}" dt="2026-10-28T09:01:47.371" v="135" actId="1076"/>
          <ac:picMkLst>
            <pc:docMk/>
            <pc:sldMk cId="0" sldId="258"/>
            <ac:picMk id="5" creationId="{AE677EC3-9EA5-8532-9DE6-5131CB742C62}"/>
          </ac:picMkLst>
        </pc:picChg>
        <pc:picChg chg="del">
          <ac:chgData name="wenjie jiang" userId="be32da44095649c9" providerId="LiveId" clId="{1C4DA2E3-8449-4E93-8194-94B48D8DB337}" dt="2026-10-28T08:56:15.371" v="65" actId="21"/>
          <ac:picMkLst>
            <pc:docMk/>
            <pc:sldMk cId="0" sldId="258"/>
            <ac:picMk id="8" creationId="{A8576A93-F256-EC44-FDF2-8A4A56103F43}"/>
          </ac:picMkLst>
        </pc:picChg>
        <pc:picChg chg="del">
          <ac:chgData name="wenjie jiang" userId="be32da44095649c9" providerId="LiveId" clId="{1C4DA2E3-8449-4E93-8194-94B48D8DB337}" dt="2026-10-28T08:56:16.298" v="66" actId="21"/>
          <ac:picMkLst>
            <pc:docMk/>
            <pc:sldMk cId="0" sldId="258"/>
            <ac:picMk id="10" creationId="{917F7C63-9E97-C60A-0E29-C683A32ED6B4}"/>
          </ac:picMkLst>
        </pc:picChg>
        <pc:picChg chg="del">
          <ac:chgData name="wenjie jiang" userId="be32da44095649c9" providerId="LiveId" clId="{1C4DA2E3-8449-4E93-8194-94B48D8DB337}" dt="2026-10-28T08:56:17.530" v="67" actId="21"/>
          <ac:picMkLst>
            <pc:docMk/>
            <pc:sldMk cId="0" sldId="258"/>
            <ac:picMk id="12" creationId="{D5EEA023-DBCC-DA23-03E1-A925B6DA4A70}"/>
          </ac:picMkLst>
        </pc:picChg>
      </pc:sldChg>
      <pc:sldChg chg="addSp delSp modSp mod">
        <pc:chgData name="wenjie jiang" userId="be32da44095649c9" providerId="LiveId" clId="{1C4DA2E3-8449-4E93-8194-94B48D8DB337}" dt="2026-10-28T09:02:16.261" v="137" actId="1076"/>
        <pc:sldMkLst>
          <pc:docMk/>
          <pc:sldMk cId="0" sldId="259"/>
        </pc:sldMkLst>
        <pc:spChg chg="add del mod">
          <ac:chgData name="wenjie jiang" userId="be32da44095649c9" providerId="LiveId" clId="{1C4DA2E3-8449-4E93-8194-94B48D8DB337}" dt="2026-10-28T09:00:03.851" v="108" actId="21"/>
          <ac:spMkLst>
            <pc:docMk/>
            <pc:sldMk cId="0" sldId="259"/>
            <ac:spMk id="5" creationId="{1D887F8A-B5B8-D319-E844-FE4B02F29F6D}"/>
          </ac:spMkLst>
        </pc:spChg>
        <pc:spChg chg="mod">
          <ac:chgData name="wenjie jiang" userId="be32da44095649c9" providerId="LiveId" clId="{1C4DA2E3-8449-4E93-8194-94B48D8DB337}" dt="2026-10-28T08:59:58.785" v="106" actId="20577"/>
          <ac:spMkLst>
            <pc:docMk/>
            <pc:sldMk cId="0" sldId="259"/>
            <ac:spMk id="85" creationId="{00000000-0000-0000-0000-000000000000}"/>
          </ac:spMkLst>
        </pc:spChg>
        <pc:spChg chg="del">
          <ac:chgData name="wenjie jiang" userId="be32da44095649c9" providerId="LiveId" clId="{1C4DA2E3-8449-4E93-8194-94B48D8DB337}" dt="2026-10-28T09:00:02.182" v="107" actId="21"/>
          <ac:spMkLst>
            <pc:docMk/>
            <pc:sldMk cId="0" sldId="259"/>
            <ac:spMk id="86" creationId="{00000000-0000-0000-0000-000000000000}"/>
          </ac:spMkLst>
        </pc:spChg>
        <pc:spChg chg="del">
          <ac:chgData name="wenjie jiang" userId="be32da44095649c9" providerId="LiveId" clId="{1C4DA2E3-8449-4E93-8194-94B48D8DB337}" dt="2026-10-28T09:00:15.178" v="112" actId="21"/>
          <ac:spMkLst>
            <pc:docMk/>
            <pc:sldMk cId="0" sldId="259"/>
            <ac:spMk id="88" creationId="{00000000-0000-0000-0000-000000000000}"/>
          </ac:spMkLst>
        </pc:spChg>
        <pc:spChg chg="del">
          <ac:chgData name="wenjie jiang" userId="be32da44095649c9" providerId="LiveId" clId="{1C4DA2E3-8449-4E93-8194-94B48D8DB337}" dt="2026-10-28T09:00:16.894" v="113" actId="21"/>
          <ac:spMkLst>
            <pc:docMk/>
            <pc:sldMk cId="0" sldId="259"/>
            <ac:spMk id="89" creationId="{00000000-0000-0000-0000-000000000000}"/>
          </ac:spMkLst>
        </pc:spChg>
        <pc:spChg chg="del">
          <ac:chgData name="wenjie jiang" userId="be32da44095649c9" providerId="LiveId" clId="{1C4DA2E3-8449-4E93-8194-94B48D8DB337}" dt="2026-10-28T09:00:12.243" v="111" actId="21"/>
          <ac:spMkLst>
            <pc:docMk/>
            <pc:sldMk cId="0" sldId="259"/>
            <ac:spMk id="90" creationId="{00000000-0000-0000-0000-000000000000}"/>
          </ac:spMkLst>
        </pc:spChg>
        <pc:spChg chg="del">
          <ac:chgData name="wenjie jiang" userId="be32da44095649c9" providerId="LiveId" clId="{1C4DA2E3-8449-4E93-8194-94B48D8DB337}" dt="2026-10-28T09:00:10.205" v="110" actId="21"/>
          <ac:spMkLst>
            <pc:docMk/>
            <pc:sldMk cId="0" sldId="259"/>
            <ac:spMk id="91" creationId="{00000000-0000-0000-0000-000000000000}"/>
          </ac:spMkLst>
        </pc:spChg>
        <pc:spChg chg="del">
          <ac:chgData name="wenjie jiang" userId="be32da44095649c9" providerId="LiveId" clId="{1C4DA2E3-8449-4E93-8194-94B48D8DB337}" dt="2026-10-28T09:00:08.481" v="109" actId="21"/>
          <ac:spMkLst>
            <pc:docMk/>
            <pc:sldMk cId="0" sldId="259"/>
            <ac:spMk id="92" creationId="{00000000-0000-0000-0000-000000000000}"/>
          </ac:spMkLst>
        </pc:spChg>
        <pc:spChg chg="del">
          <ac:chgData name="wenjie jiang" userId="be32da44095649c9" providerId="LiveId" clId="{1C4DA2E3-8449-4E93-8194-94B48D8DB337}" dt="2026-10-28T09:00:25.039" v="117" actId="21"/>
          <ac:spMkLst>
            <pc:docMk/>
            <pc:sldMk cId="0" sldId="259"/>
            <ac:spMk id="93" creationId="{00000000-0000-0000-0000-000000000000}"/>
          </ac:spMkLst>
        </pc:spChg>
        <pc:spChg chg="del">
          <ac:chgData name="wenjie jiang" userId="be32da44095649c9" providerId="LiveId" clId="{1C4DA2E3-8449-4E93-8194-94B48D8DB337}" dt="2026-10-28T09:00:23.585" v="116" actId="21"/>
          <ac:spMkLst>
            <pc:docMk/>
            <pc:sldMk cId="0" sldId="259"/>
            <ac:spMk id="94" creationId="{00000000-0000-0000-0000-000000000000}"/>
          </ac:spMkLst>
        </pc:spChg>
        <pc:picChg chg="add mod">
          <ac:chgData name="wenjie jiang" userId="be32da44095649c9" providerId="LiveId" clId="{1C4DA2E3-8449-4E93-8194-94B48D8DB337}" dt="2026-10-28T09:02:16.261" v="137" actId="1076"/>
          <ac:picMkLst>
            <pc:docMk/>
            <pc:sldMk cId="0" sldId="259"/>
            <ac:picMk id="3" creationId="{06CB09F1-A38A-F12F-C2F9-2FEB5FD861EA}"/>
          </ac:picMkLst>
        </pc:picChg>
      </pc:sldChg>
      <pc:sldChg chg="addSp delSp modSp mod">
        <pc:chgData name="wenjie jiang" userId="be32da44095649c9" providerId="LiveId" clId="{1C4DA2E3-8449-4E93-8194-94B48D8DB337}" dt="2026-10-28T09:02:56.135" v="159" actId="1076"/>
        <pc:sldMkLst>
          <pc:docMk/>
          <pc:sldMk cId="0" sldId="260"/>
        </pc:sldMkLst>
        <pc:spChg chg="add del mod">
          <ac:chgData name="wenjie jiang" userId="be32da44095649c9" providerId="LiveId" clId="{1C4DA2E3-8449-4E93-8194-94B48D8DB337}" dt="2026-10-28T09:02:37.063" v="156" actId="21"/>
          <ac:spMkLst>
            <pc:docMk/>
            <pc:sldMk cId="0" sldId="260"/>
            <ac:spMk id="3" creationId="{9E46DE4E-16E8-9B11-D863-677734B7AA1A}"/>
          </ac:spMkLst>
        </pc:spChg>
        <pc:spChg chg="mod">
          <ac:chgData name="wenjie jiang" userId="be32da44095649c9" providerId="LiveId" clId="{1C4DA2E3-8449-4E93-8194-94B48D8DB337}" dt="2026-10-28T09:02:29.920" v="154" actId="20577"/>
          <ac:spMkLst>
            <pc:docMk/>
            <pc:sldMk cId="0" sldId="260"/>
            <ac:spMk id="99" creationId="{00000000-0000-0000-0000-000000000000}"/>
          </ac:spMkLst>
        </pc:spChg>
        <pc:spChg chg="del">
          <ac:chgData name="wenjie jiang" userId="be32da44095649c9" providerId="LiveId" clId="{1C4DA2E3-8449-4E93-8194-94B48D8DB337}" dt="2026-10-28T09:02:35.403" v="155" actId="21"/>
          <ac:spMkLst>
            <pc:docMk/>
            <pc:sldMk cId="0" sldId="260"/>
            <ac:spMk id="100" creationId="{00000000-0000-0000-0000-000000000000}"/>
          </ac:spMkLst>
        </pc:spChg>
        <pc:spChg chg="mod">
          <ac:chgData name="wenjie jiang" userId="be32da44095649c9" providerId="LiveId" clId="{1C4DA2E3-8449-4E93-8194-94B48D8DB337}" dt="2026-10-28T09:02:56.135" v="159" actId="1076"/>
          <ac:spMkLst>
            <pc:docMk/>
            <pc:sldMk cId="0" sldId="260"/>
            <ac:spMk id="103" creationId="{00000000-0000-0000-0000-000000000000}"/>
          </ac:spMkLst>
        </pc:spChg>
        <pc:spChg chg="del">
          <ac:chgData name="wenjie jiang" userId="be32da44095649c9" providerId="LiveId" clId="{1C4DA2E3-8449-4E93-8194-94B48D8DB337}" dt="2026-10-28T09:02:52.100" v="158" actId="21"/>
          <ac:spMkLst>
            <pc:docMk/>
            <pc:sldMk cId="0" sldId="260"/>
            <ac:spMk id="104" creationId="{00000000-0000-0000-0000-000000000000}"/>
          </ac:spMkLst>
        </pc:spChg>
        <pc:graphicFrameChg chg="del">
          <ac:chgData name="wenjie jiang" userId="be32da44095649c9" providerId="LiveId" clId="{1C4DA2E3-8449-4E93-8194-94B48D8DB337}" dt="2026-10-28T09:02:38.918" v="157" actId="21"/>
          <ac:graphicFrameMkLst>
            <pc:docMk/>
            <pc:sldMk cId="0" sldId="260"/>
            <ac:graphicFrameMk id="102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D9C1F0D3-F0C8-8C56-F568-44EEBF6E0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:notes">
            <a:extLst>
              <a:ext uri="{FF2B5EF4-FFF2-40B4-BE49-F238E27FC236}">
                <a16:creationId xmlns:a16="http://schemas.microsoft.com/office/drawing/2014/main" id="{82963178-28F8-A82B-945E-F3078BFF68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7:notes">
            <a:extLst>
              <a:ext uri="{FF2B5EF4-FFF2-40B4-BE49-F238E27FC236}">
                <a16:creationId xmlns:a16="http://schemas.microsoft.com/office/drawing/2014/main" id="{3BBFA87A-61AE-89D2-E47B-5E33E3BE8E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5464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83d978854_4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d83d978854_4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5" name="Google Shape;15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04.03442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>
            <a:spLocks noGrp="1"/>
          </p:cNvSpPr>
          <p:nvPr>
            <p:ph type="ctrTitle"/>
          </p:nvPr>
        </p:nvSpPr>
        <p:spPr>
          <a:xfrm>
            <a:off x="1743807" y="2377440"/>
            <a:ext cx="5656385" cy="674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00" b="1" dirty="0"/>
              <a:t>Response Curves and Action Inertia in Utility-Based NPC Agents</a:t>
            </a:r>
            <a:endParaRPr sz="2400" b="1" dirty="0"/>
          </a:p>
        </p:txBody>
      </p:sp>
      <p:sp>
        <p:nvSpPr>
          <p:cNvPr id="55" name="Google Shape;55;p1"/>
          <p:cNvSpPr txBox="1"/>
          <p:nvPr/>
        </p:nvSpPr>
        <p:spPr>
          <a:xfrm>
            <a:off x="2104350" y="3291250"/>
            <a:ext cx="4935300" cy="12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0" u="none" strike="noStrike" cap="none" dirty="0">
                <a:solidFill>
                  <a:schemeClr val="dk1"/>
                </a:solidFill>
              </a:rPr>
              <a:t>Wenjie Jiang</a:t>
            </a:r>
            <a:endParaRPr b="1" dirty="0"/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0" u="none" strike="noStrike" cap="none" dirty="0">
                <a:solidFill>
                  <a:schemeClr val="dk1"/>
                </a:solidFill>
              </a:rPr>
              <a:t>Advisor:</a:t>
            </a:r>
            <a:r>
              <a:rPr lang="en" b="1" dirty="0">
                <a:solidFill>
                  <a:schemeClr val="dk1"/>
                </a:solidFill>
              </a:rPr>
              <a:t> </a:t>
            </a:r>
            <a:r>
              <a:rPr lang="en" b="1" i="0" u="none" strike="noStrike" cap="none" dirty="0">
                <a:solidFill>
                  <a:schemeClr val="dk1"/>
                </a:solidFill>
              </a:rPr>
              <a:t>Navid Amini</a:t>
            </a:r>
            <a:r>
              <a:rPr lang="en" b="1" dirty="0">
                <a:solidFill>
                  <a:schemeClr val="dk1"/>
                </a:solidFill>
              </a:rPr>
              <a:t>, PhD</a:t>
            </a:r>
            <a:endParaRPr b="1" i="0" u="none" strike="noStrike" cap="none" dirty="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555555"/>
                </a:solidFill>
              </a:rPr>
              <a:t>October</a:t>
            </a:r>
            <a:r>
              <a:rPr lang="en" b="0" i="0" u="none" strike="noStrike" cap="none" dirty="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 2026</a:t>
            </a:r>
            <a:br>
              <a:rPr lang="en" sz="11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>
            <a:spLocks noGrp="1"/>
          </p:cNvSpPr>
          <p:nvPr>
            <p:ph type="title"/>
          </p:nvPr>
        </p:nvSpPr>
        <p:spPr>
          <a:xfrm>
            <a:off x="548639" y="384048"/>
            <a:ext cx="575383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-US" sz="2200" b="1" dirty="0"/>
              <a:t>Deciding on Their Own</a:t>
            </a:r>
            <a:endParaRPr sz="2200" b="1" dirty="0"/>
          </a:p>
        </p:txBody>
      </p:sp>
      <p:sp>
        <p:nvSpPr>
          <p:cNvPr id="65" name="Google Shape;65;p2"/>
          <p:cNvSpPr txBox="1"/>
          <p:nvPr/>
        </p:nvSpPr>
        <p:spPr>
          <a:xfrm>
            <a:off x="548639" y="2288807"/>
            <a:ext cx="1471200" cy="5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endParaRPr sz="1800" dirty="0">
              <a:solidFill>
                <a:schemeClr val="dk2"/>
              </a:solidFill>
            </a:endParaRPr>
          </a:p>
        </p:txBody>
      </p:sp>
      <p:sp>
        <p:nvSpPr>
          <p:cNvPr id="67" name="Google Shape;67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06C371-C0AB-0D5C-19BA-520C964886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1371600"/>
            <a:ext cx="3598560" cy="2704699"/>
          </a:xfrm>
          <a:prstGeom prst="rect">
            <a:avLst/>
          </a:prstGeom>
        </p:spPr>
      </p:pic>
      <p:sp>
        <p:nvSpPr>
          <p:cNvPr id="6" name="Google Shape;103;p5">
            <a:extLst>
              <a:ext uri="{FF2B5EF4-FFF2-40B4-BE49-F238E27FC236}">
                <a16:creationId xmlns:a16="http://schemas.microsoft.com/office/drawing/2014/main" id="{C31934A6-045B-1C99-9350-2932BA1EA301}"/>
              </a:ext>
            </a:extLst>
          </p:cNvPr>
          <p:cNvSpPr txBox="1"/>
          <p:nvPr/>
        </p:nvSpPr>
        <p:spPr>
          <a:xfrm>
            <a:off x="7315200" y="4389120"/>
            <a:ext cx="15171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2"/>
                </a:solidFill>
              </a:rPr>
              <a:t>(Mark, 2009)</a:t>
            </a:r>
            <a:endParaRPr sz="11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 txBox="1">
            <a:spLocks noGrp="1"/>
          </p:cNvSpPr>
          <p:nvPr>
            <p:ph type="title"/>
          </p:nvPr>
        </p:nvSpPr>
        <p:spPr>
          <a:xfrm>
            <a:off x="548640" y="38404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" sz="2200" b="1" dirty="0"/>
              <a:t>The Setup</a:t>
            </a:r>
            <a:endParaRPr sz="2200" b="1" dirty="0"/>
          </a:p>
        </p:txBody>
      </p:sp>
      <p:sp>
        <p:nvSpPr>
          <p:cNvPr id="80" name="Google Shape;8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677EC3-9EA5-8532-9DE6-5131CB742C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914400"/>
            <a:ext cx="2561860" cy="361122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 txBox="1">
            <a:spLocks noGrp="1"/>
          </p:cNvSpPr>
          <p:nvPr>
            <p:ph type="title"/>
          </p:nvPr>
        </p:nvSpPr>
        <p:spPr>
          <a:xfrm>
            <a:off x="548640" y="38404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" sz="2200" b="1" dirty="0"/>
              <a:t>Two Agents</a:t>
            </a:r>
            <a:endParaRPr sz="2200" b="1" dirty="0"/>
          </a:p>
        </p:txBody>
      </p:sp>
      <p:sp>
        <p:nvSpPr>
          <p:cNvPr id="87" name="Google Shape;8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CB09F1-A38A-F12F-C2F9-2FEB5FD861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914400"/>
            <a:ext cx="2448267" cy="336279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"/>
          <p:cNvSpPr txBox="1">
            <a:spLocks noGrp="1"/>
          </p:cNvSpPr>
          <p:nvPr>
            <p:ph type="title"/>
          </p:nvPr>
        </p:nvSpPr>
        <p:spPr>
          <a:xfrm>
            <a:off x="548640" y="38404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" sz="2200" b="1" dirty="0"/>
              <a:t>Response Curves</a:t>
            </a:r>
            <a:endParaRPr sz="2200" b="1" dirty="0"/>
          </a:p>
        </p:txBody>
      </p:sp>
      <p:sp>
        <p:nvSpPr>
          <p:cNvPr id="101" name="Google Shape;10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103" name="Google Shape;103;p5"/>
          <p:cNvSpPr txBox="1"/>
          <p:nvPr/>
        </p:nvSpPr>
        <p:spPr>
          <a:xfrm>
            <a:off x="7315200" y="4389120"/>
            <a:ext cx="15171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2"/>
                </a:solidFill>
              </a:rPr>
              <a:t>(Mark, 2009)</a:t>
            </a:r>
            <a:endParaRPr sz="11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"/>
          <p:cNvSpPr txBox="1">
            <a:spLocks noGrp="1"/>
          </p:cNvSpPr>
          <p:nvPr>
            <p:ph type="title"/>
          </p:nvPr>
        </p:nvSpPr>
        <p:spPr>
          <a:xfrm>
            <a:off x="548640" y="384048"/>
            <a:ext cx="8472518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" sz="2200" b="1" dirty="0"/>
              <a:t>How Our Approach Addresses Limitations of Existing Models</a:t>
            </a:r>
            <a:endParaRPr sz="2200" b="1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endParaRPr sz="2466" dirty="0"/>
          </a:p>
        </p:txBody>
      </p:sp>
      <p:sp>
        <p:nvSpPr>
          <p:cNvPr id="110" name="Google Shape;110;p7"/>
          <p:cNvSpPr txBox="1">
            <a:spLocks noGrp="1"/>
          </p:cNvSpPr>
          <p:nvPr>
            <p:ph type="body" idx="1"/>
          </p:nvPr>
        </p:nvSpPr>
        <p:spPr>
          <a:xfrm>
            <a:off x="548650" y="914400"/>
            <a:ext cx="8238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</a:rPr>
              <a:t>Our approach aims to address this limitation by empirically isolating response curves and action inertia</a:t>
            </a:r>
            <a:endParaRPr sz="1400" dirty="0">
              <a:solidFill>
                <a:schemeClr val="dk1"/>
              </a:solidFill>
            </a:endParaRPr>
          </a:p>
        </p:txBody>
      </p:sp>
      <p:sp>
        <p:nvSpPr>
          <p:cNvPr id="111" name="Google Shape;11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112" name="Google Shape;112;p7"/>
          <p:cNvSpPr txBox="1"/>
          <p:nvPr/>
        </p:nvSpPr>
        <p:spPr>
          <a:xfrm>
            <a:off x="548640" y="4389120"/>
            <a:ext cx="1077600" cy="3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2"/>
                </a:solidFill>
              </a:rPr>
              <a:t>(Mark, 2009)</a:t>
            </a:r>
            <a:endParaRPr sz="11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graphicFrame>
        <p:nvGraphicFramePr>
          <p:cNvPr id="113" name="Google Shape;113;p7"/>
          <p:cNvGraphicFramePr/>
          <p:nvPr/>
        </p:nvGraphicFramePr>
        <p:xfrm>
          <a:off x="548675" y="1554480"/>
          <a:ext cx="8352250" cy="2672625"/>
        </p:xfrm>
        <a:graphic>
          <a:graphicData uri="http://schemas.openxmlformats.org/drawingml/2006/table">
            <a:tbl>
              <a:tblPr>
                <a:noFill/>
                <a:tableStyleId>{629DBEC2-58FE-42DA-915E-554960D095A8}</a:tableStyleId>
              </a:tblPr>
              <a:tblGrid>
                <a:gridCol w="4176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9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Utility AI Foundations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Our Approach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4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Response curves: math mapping need to desire</a:t>
                      </a:r>
                      <a:endParaRPr dirty="0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Baseline vs. curves-only</a:t>
                      </a:r>
                      <a:r>
                        <a:rPr lang="en"/>
                        <a:t>: measures the curve's contribution</a:t>
                      </a: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4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Action inertia (decision momentum): commitment bonus on active action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Baseline vs. inertia-only</a:t>
                      </a:r>
                      <a:r>
                        <a:rPr lang="en"/>
                        <a:t>: measures inertia's contribution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44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Established design tools; empirical isolation remains open</a:t>
                      </a:r>
                      <a:endParaRPr/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/>
                        <a:t>Full 4-condition ablation:</a:t>
                      </a:r>
                      <a:r>
                        <a:rPr lang="en" dirty="0"/>
                        <a:t> quantifies each mechanism's effect on stability and adaptability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 txBox="1">
            <a:spLocks noGrp="1"/>
          </p:cNvSpPr>
          <p:nvPr>
            <p:ph type="title"/>
          </p:nvPr>
        </p:nvSpPr>
        <p:spPr>
          <a:xfrm>
            <a:off x="548640" y="38404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" sz="2200" b="1" dirty="0"/>
              <a:t>Potential Improvements over Current Techniques</a:t>
            </a:r>
            <a:endParaRPr sz="2200" b="1" dirty="0"/>
          </a:p>
        </p:txBody>
      </p:sp>
      <p:sp>
        <p:nvSpPr>
          <p:cNvPr id="119" name="Google Shape;119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120" name="Google Shape;120;p8"/>
          <p:cNvSpPr txBox="1"/>
          <p:nvPr/>
        </p:nvSpPr>
        <p:spPr>
          <a:xfrm>
            <a:off x="548640" y="914400"/>
            <a:ext cx="6336600" cy="4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We aim to move established utility AI from description to measurement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548640" y="1417320"/>
            <a:ext cx="2469000" cy="3017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</a:rPr>
              <a:t>Mechanism contributions:</a:t>
            </a:r>
            <a:r>
              <a:rPr lang="en" dirty="0">
                <a:solidFill>
                  <a:schemeClr val="dk1"/>
                </a:solidFill>
              </a:rPr>
              <a:t> </a:t>
            </a:r>
            <a:endParaRPr dirty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measure how curves and inertia each affect stability and adaptability</a:t>
            </a:r>
            <a:endParaRPr b="1" dirty="0">
              <a:solidFill>
                <a:schemeClr val="dk1"/>
              </a:solidFill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3291840" y="1417320"/>
            <a:ext cx="2469000" cy="3017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</a:rPr>
              <a:t>Interaction effects:</a:t>
            </a:r>
            <a:endParaRPr b="1" dirty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test whether curves and inertia compound, add, or interfere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6035040" y="1417320"/>
            <a:ext cx="2469000" cy="3017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Design guidance: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may suggest preliminary tuning cues for curves and inertia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5B5084FC-3908-2B3E-D7FD-854F59B12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">
            <a:extLst>
              <a:ext uri="{FF2B5EF4-FFF2-40B4-BE49-F238E27FC236}">
                <a16:creationId xmlns:a16="http://schemas.microsoft.com/office/drawing/2014/main" id="{8FEB3443-DD62-6D62-0EEE-FC81C47A64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8640" y="384048"/>
            <a:ext cx="8472518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3111"/>
            </a:pPr>
            <a:r>
              <a:rPr lang="en-US" sz="2200" b="1" dirty="0"/>
              <a:t>Pilot Testing and Findings</a:t>
            </a:r>
            <a:endParaRPr sz="2200" dirty="0"/>
          </a:p>
        </p:txBody>
      </p:sp>
      <p:sp>
        <p:nvSpPr>
          <p:cNvPr id="110" name="Google Shape;110;p7">
            <a:extLst>
              <a:ext uri="{FF2B5EF4-FFF2-40B4-BE49-F238E27FC236}">
                <a16:creationId xmlns:a16="http://schemas.microsoft.com/office/drawing/2014/main" id="{295D3D7D-69D8-5B4B-BB29-6E527DCDB2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48650" y="914400"/>
            <a:ext cx="8238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chemeClr val="dk1"/>
                </a:solidFill>
              </a:rPr>
              <a:t>The measurement pipeline is in use; these are the first pilot results</a:t>
            </a:r>
            <a:endParaRPr sz="1400" dirty="0">
              <a:solidFill>
                <a:schemeClr val="dk1"/>
              </a:solidFill>
            </a:endParaRPr>
          </a:p>
        </p:txBody>
      </p:sp>
      <p:sp>
        <p:nvSpPr>
          <p:cNvPr id="111" name="Google Shape;111;p7">
            <a:extLst>
              <a:ext uri="{FF2B5EF4-FFF2-40B4-BE49-F238E27FC236}">
                <a16:creationId xmlns:a16="http://schemas.microsoft.com/office/drawing/2014/main" id="{9F340324-979B-AB0F-EEFD-83202D4F121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5D1DA0D-E8F2-1B78-CD2E-EF515B5538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8023661"/>
              </p:ext>
            </p:extLst>
          </p:nvPr>
        </p:nvGraphicFramePr>
        <p:xfrm>
          <a:off x="548640" y="1554480"/>
          <a:ext cx="3927261" cy="1556613"/>
        </p:xfrm>
        <a:graphic>
          <a:graphicData uri="http://schemas.openxmlformats.org/drawingml/2006/table">
            <a:tbl>
              <a:tblPr firstRow="1" bandRow="1"/>
              <a:tblGrid>
                <a:gridCol w="1443213">
                  <a:extLst>
                    <a:ext uri="{9D8B030D-6E8A-4147-A177-3AD203B41FA5}">
                      <a16:colId xmlns:a16="http://schemas.microsoft.com/office/drawing/2014/main" val="1029067552"/>
                    </a:ext>
                  </a:extLst>
                </a:gridCol>
                <a:gridCol w="1174962">
                  <a:extLst>
                    <a:ext uri="{9D8B030D-6E8A-4147-A177-3AD203B41FA5}">
                      <a16:colId xmlns:a16="http://schemas.microsoft.com/office/drawing/2014/main" val="2928668017"/>
                    </a:ext>
                  </a:extLst>
                </a:gridCol>
                <a:gridCol w="1309086">
                  <a:extLst>
                    <a:ext uri="{9D8B030D-6E8A-4147-A177-3AD203B41FA5}">
                      <a16:colId xmlns:a16="http://schemas.microsoft.com/office/drawing/2014/main" val="3643515676"/>
                    </a:ext>
                  </a:extLst>
                </a:gridCol>
              </a:tblGrid>
              <a:tr h="28914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Baseline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Utility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606958"/>
                  </a:ext>
                </a:extLst>
              </a:tr>
              <a:tr h="289141"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Decisions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46.0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45.5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2891731"/>
                  </a:ext>
                </a:extLst>
              </a:tr>
              <a:tr h="289141"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Interruptions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12.6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9.6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4629797"/>
                  </a:ext>
                </a:extLst>
              </a:tr>
              <a:tr h="337413"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Interruption rate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27%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21%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6350290"/>
                  </a:ext>
                </a:extLst>
              </a:tr>
              <a:tr h="289141">
                <a:tc gridSpan="3">
                  <a:txBody>
                    <a:bodyPr/>
                    <a:lstStyle/>
                    <a:p>
                      <a:r>
                        <a:rPr lang="en-US" dirty="0"/>
                        <a:t>8 repeats, 300 simulated seconds each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636919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6C5BA71-D3CB-7AA6-FA8D-10D30EE80DD5}"/>
              </a:ext>
            </a:extLst>
          </p:cNvPr>
          <p:cNvSpPr txBox="1"/>
          <p:nvPr/>
        </p:nvSpPr>
        <p:spPr>
          <a:xfrm>
            <a:off x="4784899" y="1557150"/>
            <a:ext cx="3476065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Two design flaws corrected: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misaligned intervention 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shared action lock</a:t>
            </a:r>
          </a:p>
          <a:p>
            <a:endParaRPr lang="en-US" b="1" dirty="0"/>
          </a:p>
          <a:p>
            <a:r>
              <a:rPr lang="en-US" b="1" dirty="0"/>
              <a:t>First measured effect: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interruptions down 24%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direction held in all 8 repeats</a:t>
            </a:r>
          </a:p>
          <a:p>
            <a:endParaRPr lang="en-US" b="1" dirty="0"/>
          </a:p>
          <a:p>
            <a:r>
              <a:rPr lang="en-US" b="1" dirty="0"/>
              <a:t>Three limits remain: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curves and inertia varied together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arbitration occurred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some interruptions were justified rather than harmful</a:t>
            </a:r>
          </a:p>
        </p:txBody>
      </p:sp>
    </p:spTree>
    <p:extLst>
      <p:ext uri="{BB962C8B-B14F-4D97-AF65-F5344CB8AC3E}">
        <p14:creationId xmlns:p14="http://schemas.microsoft.com/office/powerpoint/2010/main" val="2805522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 txBox="1">
            <a:spLocks noGrp="1"/>
          </p:cNvSpPr>
          <p:nvPr>
            <p:ph type="title"/>
          </p:nvPr>
        </p:nvSpPr>
        <p:spPr>
          <a:xfrm>
            <a:off x="548640" y="38404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" sz="2200" b="1" dirty="0"/>
              <a:t>A Tentative Timeline for Completion</a:t>
            </a:r>
            <a:endParaRPr sz="2200" b="1" dirty="0"/>
          </a:p>
        </p:txBody>
      </p:sp>
      <p:sp>
        <p:nvSpPr>
          <p:cNvPr id="129" name="Google Shape;129;p9"/>
          <p:cNvSpPr txBox="1">
            <a:spLocks noGrp="1"/>
          </p:cNvSpPr>
          <p:nvPr>
            <p:ph type="body" idx="1"/>
          </p:nvPr>
        </p:nvSpPr>
        <p:spPr>
          <a:xfrm>
            <a:off x="836800" y="1400075"/>
            <a:ext cx="7317600" cy="29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07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7200"/>
              <a:buNone/>
            </a:pPr>
            <a:endParaRPr/>
          </a:p>
        </p:txBody>
      </p:sp>
      <p:sp>
        <p:nvSpPr>
          <p:cNvPr id="130" name="Google Shape;13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131" name="Google Shape;131;p9"/>
          <p:cNvSpPr/>
          <p:nvPr/>
        </p:nvSpPr>
        <p:spPr>
          <a:xfrm>
            <a:off x="548640" y="1097280"/>
            <a:ext cx="3840600" cy="347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Completed</a:t>
            </a:r>
            <a:endParaRPr b="1" dirty="0"/>
          </a:p>
          <a:p>
            <a:pPr algn="ctr">
              <a:lnSpc>
                <a:spcPct val="150000"/>
              </a:lnSpc>
            </a:pPr>
            <a:r>
              <a:rPr lang="en-US" b="1" dirty="0"/>
              <a:t>Spring 2026</a:t>
            </a:r>
          </a:p>
          <a:p>
            <a:pPr>
              <a:lnSpc>
                <a:spcPct val="150000"/>
              </a:lnSpc>
            </a:pPr>
            <a:r>
              <a:rPr lang="en-US" b="1" dirty="0"/>
              <a:t>Foundation:</a:t>
            </a:r>
            <a:r>
              <a:rPr lang="en-US" dirty="0"/>
              <a:t> simulation, swappable brains, both agents, live demo</a:t>
            </a:r>
          </a:p>
          <a:p>
            <a:pPr algn="ctr">
              <a:lnSpc>
                <a:spcPct val="150000"/>
              </a:lnSpc>
            </a:pPr>
            <a:r>
              <a:rPr lang="en-US" b="1" dirty="0"/>
              <a:t>Summer 2026</a:t>
            </a:r>
          </a:p>
          <a:p>
            <a:pPr>
              <a:lnSpc>
                <a:spcPct val="150000"/>
              </a:lnSpc>
            </a:pPr>
            <a:r>
              <a:rPr lang="en-US" b="1" dirty="0"/>
              <a:t>Measurement pipeline: </a:t>
            </a:r>
            <a:r>
              <a:rPr lang="en-US" dirty="0"/>
              <a:t>decisions and configurations logged to CSV</a:t>
            </a:r>
          </a:p>
          <a:p>
            <a:pPr>
              <a:lnSpc>
                <a:spcPct val="150000"/>
              </a:lnSpc>
            </a:pPr>
            <a:r>
              <a:rPr lang="en-US" b="1" dirty="0"/>
              <a:t>Design corrections: </a:t>
            </a:r>
            <a:r>
              <a:rPr lang="en-US" dirty="0"/>
              <a:t>intervention points calibrated, shared action lock removed</a:t>
            </a:r>
          </a:p>
          <a:p>
            <a:pPr>
              <a:lnSpc>
                <a:spcPct val="150000"/>
              </a:lnSpc>
            </a:pPr>
            <a:r>
              <a:rPr lang="en-US" b="1" dirty="0"/>
              <a:t>Pilot runs: </a:t>
            </a:r>
            <a:r>
              <a:rPr lang="en-US" dirty="0"/>
              <a:t>first repeated measurements</a:t>
            </a:r>
          </a:p>
        </p:txBody>
      </p:sp>
      <p:sp>
        <p:nvSpPr>
          <p:cNvPr id="132" name="Google Shape;132;p9"/>
          <p:cNvSpPr/>
          <p:nvPr/>
        </p:nvSpPr>
        <p:spPr>
          <a:xfrm>
            <a:off x="4572000" y="1097280"/>
            <a:ext cx="3840600" cy="347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50000"/>
              </a:lnSpc>
            </a:pPr>
            <a:r>
              <a:rPr lang="en" b="1" dirty="0"/>
              <a:t>Planned</a:t>
            </a: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Fall 2026</a:t>
            </a:r>
            <a:endParaRPr b="1" dirty="0"/>
          </a:p>
          <a:p>
            <a:pPr>
              <a:lnSpc>
                <a:spcPct val="150000"/>
              </a:lnSpc>
            </a:pPr>
            <a:r>
              <a:rPr lang="en-US" b="1" dirty="0"/>
              <a:t>Stability metric: </a:t>
            </a:r>
            <a:r>
              <a:rPr lang="en-US" dirty="0"/>
              <a:t>separate oscillation from justified switching</a:t>
            </a:r>
          </a:p>
          <a:p>
            <a:pPr>
              <a:lnSpc>
                <a:spcPct val="150000"/>
              </a:lnSpc>
            </a:pPr>
            <a:r>
              <a:rPr lang="en-US" b="1" dirty="0"/>
              <a:t>Adaptability scenario: </a:t>
            </a:r>
            <a:r>
              <a:rPr lang="en-US" dirty="0"/>
              <a:t>resource removal</a:t>
            </a:r>
          </a:p>
          <a:p>
            <a:pPr>
              <a:lnSpc>
                <a:spcPct val="150000"/>
              </a:lnSpc>
            </a:pPr>
            <a:r>
              <a:rPr lang="en-US" b="1" dirty="0"/>
              <a:t>Seeded randomization: </a:t>
            </a:r>
            <a:r>
              <a:rPr lang="en-US" dirty="0"/>
              <a:t>sample across starting conditions</a:t>
            </a:r>
          </a:p>
          <a:p>
            <a:pPr>
              <a:lnSpc>
                <a:spcPct val="150000"/>
              </a:lnSpc>
            </a:pPr>
            <a:r>
              <a:rPr lang="en-US" b="1" dirty="0"/>
              <a:t>Four-condition ablation:</a:t>
            </a:r>
            <a:r>
              <a:rPr lang="en-US" dirty="0"/>
              <a:t> separate curve from inertia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83d978854_4_31"/>
          <p:cNvSpPr txBox="1">
            <a:spLocks noGrp="1"/>
          </p:cNvSpPr>
          <p:nvPr>
            <p:ph type="title"/>
          </p:nvPr>
        </p:nvSpPr>
        <p:spPr>
          <a:xfrm>
            <a:off x="548640" y="38404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/>
              <a:t>References</a:t>
            </a:r>
            <a:endParaRPr sz="2200" b="1" dirty="0"/>
          </a:p>
        </p:txBody>
      </p:sp>
      <p:sp>
        <p:nvSpPr>
          <p:cNvPr id="138" name="Google Shape;138;g3d83d978854_4_31"/>
          <p:cNvSpPr txBox="1">
            <a:spLocks noGrp="1"/>
          </p:cNvSpPr>
          <p:nvPr>
            <p:ph type="body" idx="1"/>
          </p:nvPr>
        </p:nvSpPr>
        <p:spPr>
          <a:xfrm>
            <a:off x="548640" y="1371600"/>
            <a:ext cx="8520600" cy="305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lnSpc>
                <a:spcPct val="142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dirty="0">
                <a:solidFill>
                  <a:schemeClr val="dk1"/>
                </a:solidFill>
              </a:rPr>
              <a:t>Mark, D. (2009). </a:t>
            </a:r>
            <a:r>
              <a:rPr lang="en" sz="1400" i="1" dirty="0">
                <a:solidFill>
                  <a:schemeClr val="dk1"/>
                </a:solidFill>
              </a:rPr>
              <a:t>Behavioral Mathematics for Game AI.</a:t>
            </a:r>
            <a:r>
              <a:rPr lang="en" sz="1400" dirty="0">
                <a:solidFill>
                  <a:schemeClr val="dk1"/>
                </a:solidFill>
              </a:rPr>
              <a:t> Course Technology/Cengage.</a:t>
            </a:r>
            <a:endParaRPr sz="1400"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42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dirty="0">
                <a:solidFill>
                  <a:schemeClr val="dk1"/>
                </a:solidFill>
              </a:rPr>
              <a:t>Park, J. S., O'Brien, J. C., Cai, C. J., Morris, M. R., Liang, P., &amp; Bernstein, M. S. (2023). </a:t>
            </a:r>
            <a:r>
              <a:rPr lang="en" sz="1400" i="1" dirty="0">
                <a:solidFill>
                  <a:schemeClr val="dk1"/>
                </a:solidFill>
              </a:rPr>
              <a:t>Generative agents: Interactive simulacra of human behavior</a:t>
            </a:r>
            <a:r>
              <a:rPr lang="en" sz="1400" dirty="0">
                <a:solidFill>
                  <a:schemeClr val="dk1"/>
                </a:solidFill>
              </a:rPr>
              <a:t> (arXiv:2304.03442). arXiv. </a:t>
            </a:r>
            <a:r>
              <a:rPr lang="en" sz="1400" u="sng" dirty="0">
                <a:solidFill>
                  <a:srgbClr val="0000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https://arxiv.org/abs/2304.03442</a:t>
            </a:r>
            <a:r>
              <a:rPr lang="en" sz="1400" dirty="0">
                <a:solidFill>
                  <a:srgbClr val="0000FF"/>
                </a:solidFill>
              </a:rPr>
              <a:t> </a:t>
            </a:r>
            <a:endParaRPr sz="1400" u="sng" dirty="0"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9" name="Google Shape;139;g3d83d978854_4_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55555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</TotalTime>
  <Words>435</Words>
  <Application>Microsoft Office PowerPoint</Application>
  <PresentationFormat>On-screen Show (16:9)</PresentationFormat>
  <Paragraphs>81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Simple Light</vt:lpstr>
      <vt:lpstr>Response Curves and Action Inertia in Utility-Based NPC Agents</vt:lpstr>
      <vt:lpstr>Deciding on Their Own</vt:lpstr>
      <vt:lpstr>The Setup</vt:lpstr>
      <vt:lpstr>Two Agents</vt:lpstr>
      <vt:lpstr>Response Curves</vt:lpstr>
      <vt:lpstr>How Our Approach Addresses Limitations of Existing Models </vt:lpstr>
      <vt:lpstr>Potential Improvements over Current Techniques</vt:lpstr>
      <vt:lpstr>Pilot Testing and Findings</vt:lpstr>
      <vt:lpstr>A Tentative Timeline for Completion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wenjie jiang</cp:lastModifiedBy>
  <cp:revision>9</cp:revision>
  <dcterms:modified xsi:type="dcterms:W3CDTF">2026-10-28T09:08:40Z</dcterms:modified>
</cp:coreProperties>
</file>