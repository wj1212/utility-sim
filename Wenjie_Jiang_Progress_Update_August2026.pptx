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5" r:id="rId9"/>
    <p:sldId id="263" r:id="rId10"/>
    <p:sldId id="264" r:id="rId11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6" roundtripDataSignature="AMtx7mjhXBMYxZ4WvKmTGF4UVYOSy2IRh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29DBEC2-58FE-42DA-915E-554960D095A8}">
  <a:tblStyle styleId="{629DBEC2-58FE-42DA-915E-554960D095A8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86" d="100"/>
          <a:sy n="186" d="100"/>
        </p:scale>
        <p:origin x="1074" y="15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customschemas.google.com/relationships/presentationmetadata" Target="meta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2" name="Google Shape;52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8" name="Google Shape;58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0" name="Google Shape;70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3" name="Google Shape;83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7" name="Google Shape;97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7" name="Google Shape;107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6" name="Google Shape;116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>
          <a:extLst>
            <a:ext uri="{FF2B5EF4-FFF2-40B4-BE49-F238E27FC236}">
              <a16:creationId xmlns:a16="http://schemas.microsoft.com/office/drawing/2014/main" id="{D9C1F0D3-F0C8-8C56-F568-44EEBF6E0B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7:notes">
            <a:extLst>
              <a:ext uri="{FF2B5EF4-FFF2-40B4-BE49-F238E27FC236}">
                <a16:creationId xmlns:a16="http://schemas.microsoft.com/office/drawing/2014/main" id="{82963178-28F8-A82B-945E-F3078BFF68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7" name="Google Shape;107;p7:notes">
            <a:extLst>
              <a:ext uri="{FF2B5EF4-FFF2-40B4-BE49-F238E27FC236}">
                <a16:creationId xmlns:a16="http://schemas.microsoft.com/office/drawing/2014/main" id="{3BBFA87A-61AE-89D2-E47B-5E33E3BE8EB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154642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6" name="Google Shape;126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d83d978854_4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d83d978854_4_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1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1" name="Google Shape;11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1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1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5" name="Google Shape;15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3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8" name="Google Shape;18;p1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9" name="Google Shape;19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1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14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6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16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7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8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18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18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18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9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0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20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3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304.03442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"/>
          <p:cNvSpPr txBox="1">
            <a:spLocks noGrp="1"/>
          </p:cNvSpPr>
          <p:nvPr>
            <p:ph type="ctrTitle"/>
          </p:nvPr>
        </p:nvSpPr>
        <p:spPr>
          <a:xfrm>
            <a:off x="1743807" y="2377440"/>
            <a:ext cx="5656385" cy="6741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400" b="1" dirty="0"/>
              <a:t>Response Curves and Action Inertia in Utility-Based NPC Agents</a:t>
            </a:r>
            <a:endParaRPr sz="2400" b="1" dirty="0"/>
          </a:p>
        </p:txBody>
      </p:sp>
      <p:sp>
        <p:nvSpPr>
          <p:cNvPr id="55" name="Google Shape;55;p1"/>
          <p:cNvSpPr txBox="1"/>
          <p:nvPr/>
        </p:nvSpPr>
        <p:spPr>
          <a:xfrm>
            <a:off x="2104350" y="3291250"/>
            <a:ext cx="4935300" cy="122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b="1" i="0" u="none" strike="noStrike" cap="none" dirty="0">
                <a:solidFill>
                  <a:schemeClr val="dk1"/>
                </a:solidFill>
              </a:rPr>
              <a:t>Wenjie Jiang</a:t>
            </a:r>
            <a:endParaRPr b="1" dirty="0"/>
          </a:p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b="1" i="0" u="none" strike="noStrike" cap="none" dirty="0">
                <a:solidFill>
                  <a:schemeClr val="dk1"/>
                </a:solidFill>
              </a:rPr>
              <a:t>Advisor:</a:t>
            </a:r>
            <a:r>
              <a:rPr lang="en" b="1" dirty="0">
                <a:solidFill>
                  <a:schemeClr val="dk1"/>
                </a:solidFill>
              </a:rPr>
              <a:t> </a:t>
            </a:r>
            <a:r>
              <a:rPr lang="en" b="1" i="0" u="none" strike="noStrike" cap="none" dirty="0">
                <a:solidFill>
                  <a:schemeClr val="dk1"/>
                </a:solidFill>
              </a:rPr>
              <a:t>Navid Amini</a:t>
            </a:r>
            <a:r>
              <a:rPr lang="en" b="1" dirty="0">
                <a:solidFill>
                  <a:schemeClr val="dk1"/>
                </a:solidFill>
              </a:rPr>
              <a:t>, PhD</a:t>
            </a:r>
            <a:endParaRPr b="1" i="0" u="none" strike="noStrike" cap="none" dirty="0">
              <a:solidFill>
                <a:schemeClr val="dk1"/>
              </a:solidFill>
            </a:endParaRPr>
          </a:p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555555"/>
                </a:solidFill>
              </a:rPr>
              <a:t>August</a:t>
            </a:r>
            <a:r>
              <a:rPr lang="en" b="0" i="0" u="none" strike="noStrike" cap="none" dirty="0">
                <a:solidFill>
                  <a:srgbClr val="555555"/>
                </a:solidFill>
                <a:latin typeface="Arial"/>
                <a:ea typeface="Arial"/>
                <a:cs typeface="Arial"/>
                <a:sym typeface="Arial"/>
              </a:rPr>
              <a:t> 2026</a:t>
            </a:r>
            <a:br>
              <a:rPr lang="en" sz="11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sz="1100" b="1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"/>
          <p:cNvSpPr txBox="1">
            <a:spLocks noGrp="1"/>
          </p:cNvSpPr>
          <p:nvPr>
            <p:ph type="title"/>
          </p:nvPr>
        </p:nvSpPr>
        <p:spPr>
          <a:xfrm>
            <a:off x="548639" y="384048"/>
            <a:ext cx="5753837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11"/>
              <a:buNone/>
            </a:pPr>
            <a:r>
              <a:rPr lang="en" sz="2200" b="1" dirty="0"/>
              <a:t>The Overall Project Scope and Objectives</a:t>
            </a:r>
            <a:endParaRPr sz="2200" b="1" dirty="0"/>
          </a:p>
        </p:txBody>
      </p:sp>
      <p:sp>
        <p:nvSpPr>
          <p:cNvPr id="61" name="Google Shape;61;p2"/>
          <p:cNvSpPr txBox="1">
            <a:spLocks noGrp="1"/>
          </p:cNvSpPr>
          <p:nvPr>
            <p:ph type="body" idx="1"/>
          </p:nvPr>
        </p:nvSpPr>
        <p:spPr>
          <a:xfrm>
            <a:off x="320040" y="1166258"/>
            <a:ext cx="5524500" cy="10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7500" algn="l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 sz="1400" dirty="0">
                <a:solidFill>
                  <a:schemeClr val="dk1"/>
                </a:solidFill>
              </a:rPr>
              <a:t>2D Unity simulation, single-room greybox environment</a:t>
            </a:r>
            <a:endParaRPr sz="1400" dirty="0">
              <a:solidFill>
                <a:schemeClr val="dk1"/>
              </a:solidFill>
            </a:endParaRPr>
          </a:p>
          <a:p>
            <a:pPr marL="457200" lvl="0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 sz="1400" dirty="0">
                <a:solidFill>
                  <a:schemeClr val="dk1"/>
                </a:solidFill>
              </a:rPr>
              <a:t>Two agents sharing identical bodies, differing in decision brain</a:t>
            </a:r>
            <a:endParaRPr sz="1400" dirty="0">
              <a:solidFill>
                <a:schemeClr val="dk1"/>
              </a:solidFill>
            </a:endParaRPr>
          </a:p>
          <a:p>
            <a:pPr marL="457200" lvl="0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 sz="1400" dirty="0">
                <a:solidFill>
                  <a:schemeClr val="dk1"/>
                </a:solidFill>
              </a:rPr>
              <a:t>Shared needs: hunger and energy</a:t>
            </a:r>
            <a:endParaRPr sz="1400"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688"/>
              <a:buFont typeface="Arial"/>
              <a:buNone/>
            </a:pPr>
            <a:endParaRPr sz="1125" dirty="0"/>
          </a:p>
        </p:txBody>
      </p:sp>
      <p:sp>
        <p:nvSpPr>
          <p:cNvPr id="63" name="Google Shape;63;p2"/>
          <p:cNvSpPr txBox="1"/>
          <p:nvPr/>
        </p:nvSpPr>
        <p:spPr>
          <a:xfrm>
            <a:off x="320040" y="3633363"/>
            <a:ext cx="7620000" cy="79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rabicPeriod"/>
            </a:pPr>
            <a:r>
              <a:rPr lang="en" b="1" dirty="0">
                <a:solidFill>
                  <a:schemeClr val="dk1"/>
                </a:solidFill>
              </a:rPr>
              <a:t>Stability </a:t>
            </a:r>
            <a:r>
              <a:rPr lang="en" dirty="0">
                <a:solidFill>
                  <a:schemeClr val="dk1"/>
                </a:solidFill>
              </a:rPr>
              <a:t>— consistent behavior, preventing behavioral oscillation between actions</a:t>
            </a:r>
            <a:endParaRPr dirty="0">
              <a:solidFill>
                <a:schemeClr val="dk1"/>
              </a:solidFill>
            </a:endParaRPr>
          </a:p>
          <a:p>
            <a:pPr marL="457200" lvl="0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rabicPeriod"/>
            </a:pPr>
            <a:r>
              <a:rPr lang="en" b="1" dirty="0">
                <a:solidFill>
                  <a:schemeClr val="dk1"/>
                </a:solidFill>
              </a:rPr>
              <a:t>Adaptability </a:t>
            </a:r>
            <a:r>
              <a:rPr lang="en" dirty="0">
                <a:solidFill>
                  <a:schemeClr val="dk1"/>
                </a:solidFill>
              </a:rPr>
              <a:t>— dynamically adjusts behavior when resources are removed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2"/>
              </a:solidFill>
            </a:endParaRPr>
          </a:p>
        </p:txBody>
      </p:sp>
      <p:sp>
        <p:nvSpPr>
          <p:cNvPr id="64" name="Google Shape;64;p2"/>
          <p:cNvSpPr txBox="1"/>
          <p:nvPr/>
        </p:nvSpPr>
        <p:spPr>
          <a:xfrm>
            <a:off x="548639" y="914400"/>
            <a:ext cx="1058400" cy="4053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88"/>
              <a:buFont typeface="Arial"/>
              <a:buNone/>
            </a:pPr>
            <a:r>
              <a:rPr lang="en" sz="1800" b="1" dirty="0">
                <a:solidFill>
                  <a:schemeClr val="dk1"/>
                </a:solidFill>
              </a:rPr>
              <a:t>Scope</a:t>
            </a:r>
            <a:endParaRPr sz="1800" dirty="0">
              <a:solidFill>
                <a:schemeClr val="dk2"/>
              </a:solidFill>
            </a:endParaRPr>
          </a:p>
        </p:txBody>
      </p:sp>
      <p:sp>
        <p:nvSpPr>
          <p:cNvPr id="65" name="Google Shape;65;p2"/>
          <p:cNvSpPr txBox="1"/>
          <p:nvPr/>
        </p:nvSpPr>
        <p:spPr>
          <a:xfrm>
            <a:off x="548639" y="2288807"/>
            <a:ext cx="1471200" cy="5658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688"/>
              <a:buFont typeface="Arial"/>
              <a:buNone/>
            </a:pPr>
            <a:r>
              <a:rPr lang="en" sz="1800" b="1" dirty="0">
                <a:solidFill>
                  <a:schemeClr val="dk1"/>
                </a:solidFill>
              </a:rPr>
              <a:t>Objectives</a:t>
            </a:r>
            <a:endParaRPr sz="1800" dirty="0">
              <a:solidFill>
                <a:schemeClr val="dk2"/>
              </a:solidFill>
            </a:endParaRPr>
          </a:p>
        </p:txBody>
      </p:sp>
      <p:sp>
        <p:nvSpPr>
          <p:cNvPr id="66" name="Google Shape;66;p2"/>
          <p:cNvSpPr txBox="1"/>
          <p:nvPr/>
        </p:nvSpPr>
        <p:spPr>
          <a:xfrm>
            <a:off x="62940" y="2879078"/>
            <a:ext cx="8134200" cy="72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i="1" dirty="0">
                <a:solidFill>
                  <a:schemeClr val="dk1"/>
                </a:solidFill>
              </a:rPr>
              <a:t>We compare a baseline threshold agent (rigid) against a utility-scored agent (fluid) across stability and adaptability metrics</a:t>
            </a:r>
            <a:endParaRPr sz="1800" i="1" dirty="0">
              <a:solidFill>
                <a:schemeClr val="dk2"/>
              </a:solidFill>
            </a:endParaRPr>
          </a:p>
        </p:txBody>
      </p:sp>
      <p:sp>
        <p:nvSpPr>
          <p:cNvPr id="67" name="Google Shape;67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2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D42DB37-BBCB-111C-32CE-69D61A5FC3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7876" y="1117086"/>
            <a:ext cx="1259874" cy="180256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3"/>
          <p:cNvSpPr txBox="1">
            <a:spLocks noGrp="1"/>
          </p:cNvSpPr>
          <p:nvPr>
            <p:ph type="title"/>
          </p:nvPr>
        </p:nvSpPr>
        <p:spPr>
          <a:xfrm>
            <a:off x="548640" y="38404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11"/>
              <a:buNone/>
            </a:pPr>
            <a:r>
              <a:rPr lang="en" sz="2200" b="1"/>
              <a:t>Proposed Methodology and Technical Approach</a:t>
            </a:r>
            <a:endParaRPr sz="2200" b="1"/>
          </a:p>
        </p:txBody>
      </p:sp>
      <p:sp>
        <p:nvSpPr>
          <p:cNvPr id="73" name="Google Shape;73;p3"/>
          <p:cNvSpPr txBox="1">
            <a:spLocks noGrp="1"/>
          </p:cNvSpPr>
          <p:nvPr>
            <p:ph type="body" idx="1"/>
          </p:nvPr>
        </p:nvSpPr>
        <p:spPr>
          <a:xfrm>
            <a:off x="548640" y="914400"/>
            <a:ext cx="29259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25000" lnSpcReduction="20000"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b="1" dirty="0">
                <a:solidFill>
                  <a:schemeClr val="dk1"/>
                </a:solidFill>
              </a:rPr>
              <a:t>Experimental Method</a:t>
            </a:r>
            <a:endParaRPr sz="7200"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600"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4300" dirty="0">
              <a:solidFill>
                <a:schemeClr val="dk1"/>
              </a:solidFill>
            </a:endParaRPr>
          </a:p>
        </p:txBody>
      </p:sp>
      <p:sp>
        <p:nvSpPr>
          <p:cNvPr id="74" name="Google Shape;74;p3"/>
          <p:cNvSpPr txBox="1"/>
          <p:nvPr/>
        </p:nvSpPr>
        <p:spPr>
          <a:xfrm>
            <a:off x="274320" y="1280160"/>
            <a:ext cx="6328800" cy="100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 dirty="0">
                <a:solidFill>
                  <a:schemeClr val="dk1"/>
                </a:solidFill>
              </a:rPr>
              <a:t>Same body, different brains — measured on stability and adaptability</a:t>
            </a:r>
            <a:endParaRPr dirty="0">
              <a:solidFill>
                <a:schemeClr val="dk1"/>
              </a:solidFill>
            </a:endParaRPr>
          </a:p>
          <a:p>
            <a:pPr marL="457200" lvl="0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 b="1" dirty="0">
                <a:solidFill>
                  <a:schemeClr val="dk1"/>
                </a:solidFill>
              </a:rPr>
              <a:t>Baseline </a:t>
            </a:r>
            <a:r>
              <a:rPr lang="en" dirty="0">
                <a:solidFill>
                  <a:schemeClr val="dk1"/>
                </a:solidFill>
              </a:rPr>
              <a:t>— priority-ordered threshold rules</a:t>
            </a:r>
            <a:endParaRPr dirty="0">
              <a:solidFill>
                <a:schemeClr val="dk1"/>
              </a:solidFill>
            </a:endParaRPr>
          </a:p>
          <a:p>
            <a:pPr marL="457200" lvl="0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 b="1" dirty="0">
                <a:solidFill>
                  <a:schemeClr val="dk1"/>
                </a:solidFill>
              </a:rPr>
              <a:t>Utility </a:t>
            </a:r>
            <a:r>
              <a:rPr lang="en" dirty="0">
                <a:solidFill>
                  <a:schemeClr val="dk1"/>
                </a:solidFill>
              </a:rPr>
              <a:t>— response curves + action inertia (highest-scoring action wins)</a:t>
            </a:r>
            <a:endParaRPr dirty="0">
              <a:solidFill>
                <a:schemeClr val="dk1"/>
              </a:solidFill>
            </a:endParaRPr>
          </a:p>
        </p:txBody>
      </p:sp>
      <p:sp>
        <p:nvSpPr>
          <p:cNvPr id="75" name="Google Shape;75;p3"/>
          <p:cNvSpPr txBox="1"/>
          <p:nvPr/>
        </p:nvSpPr>
        <p:spPr>
          <a:xfrm>
            <a:off x="274320" y="2761756"/>
            <a:ext cx="5861447" cy="19538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 dirty="0">
                <a:solidFill>
                  <a:schemeClr val="dk1"/>
                </a:solidFill>
              </a:rPr>
              <a:t>Swappable brain component — same body, plug in Baseline or Utility</a:t>
            </a:r>
            <a:endParaRPr dirty="0">
              <a:solidFill>
                <a:schemeClr val="dk1"/>
              </a:solidFill>
            </a:endParaRPr>
          </a:p>
          <a:p>
            <a:pPr marL="457200" lvl="0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 dirty="0">
                <a:solidFill>
                  <a:schemeClr val="dk1"/>
                </a:solidFill>
              </a:rPr>
              <a:t>ScriptableObject data layer — Needs, Curves, Smart Objects</a:t>
            </a:r>
            <a:endParaRPr dirty="0">
              <a:solidFill>
                <a:schemeClr val="dk1"/>
              </a:solidFill>
            </a:endParaRPr>
          </a:p>
          <a:p>
            <a:pPr marL="457200" lvl="0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 dirty="0">
                <a:solidFill>
                  <a:schemeClr val="dk1"/>
                </a:solidFill>
              </a:rPr>
              <a:t>Pull-based perception — agent scans world each decision cycle</a:t>
            </a:r>
          </a:p>
          <a:p>
            <a:pPr marL="457200" lvl="0" indent="-317500">
              <a:lnSpc>
                <a:spcPct val="150000"/>
              </a:lnSpc>
              <a:buClr>
                <a:schemeClr val="dk1"/>
              </a:buClr>
              <a:buSzPts val="1400"/>
              <a:buChar char="●"/>
            </a:pPr>
            <a:r>
              <a:rPr lang="en-US" dirty="0">
                <a:solidFill>
                  <a:schemeClr val="dk1"/>
                </a:solidFill>
              </a:rPr>
              <a:t>Instrumentation layer — decisions and run configurations logged to CSV</a:t>
            </a:r>
            <a:endParaRPr dirty="0">
              <a:solidFill>
                <a:schemeClr val="dk1"/>
              </a:solidFill>
            </a:endParaRPr>
          </a:p>
        </p:txBody>
      </p:sp>
      <p:sp>
        <p:nvSpPr>
          <p:cNvPr id="76" name="Google Shape;76;p3"/>
          <p:cNvSpPr txBox="1"/>
          <p:nvPr/>
        </p:nvSpPr>
        <p:spPr>
          <a:xfrm>
            <a:off x="548640" y="2492772"/>
            <a:ext cx="4508400" cy="47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solidFill>
                  <a:schemeClr val="dk1"/>
                </a:solidFill>
              </a:rPr>
              <a:t>Technical Approach</a:t>
            </a:r>
            <a:endParaRPr sz="1800" b="1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2"/>
              </a:solidFill>
            </a:endParaRPr>
          </a:p>
        </p:txBody>
      </p:sp>
      <p:sp>
        <p:nvSpPr>
          <p:cNvPr id="80" name="Google Shape;80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3</a:t>
            </a:fld>
            <a:endParaRPr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8576A93-F256-EC44-FDF2-8A4A56103F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0296" y="1017259"/>
            <a:ext cx="1491787" cy="165368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17F7C63-9E97-C60A-0E29-C683A32ED6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1955" y="3102236"/>
            <a:ext cx="1259231" cy="141613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5EEA023-DBCC-DA23-03E1-A925B6DA4A7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4855" y="3303169"/>
            <a:ext cx="1381334" cy="87103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4"/>
          <p:cNvSpPr txBox="1">
            <a:spLocks noGrp="1"/>
          </p:cNvSpPr>
          <p:nvPr>
            <p:ph type="title"/>
          </p:nvPr>
        </p:nvSpPr>
        <p:spPr>
          <a:xfrm>
            <a:off x="548640" y="38404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11"/>
              <a:buNone/>
            </a:pPr>
            <a:r>
              <a:rPr lang="en" sz="2200" b="1"/>
              <a:t>Expected Challenges and Risks</a:t>
            </a:r>
            <a:endParaRPr sz="2200" b="1"/>
          </a:p>
        </p:txBody>
      </p:sp>
      <p:sp>
        <p:nvSpPr>
          <p:cNvPr id="86" name="Google Shape;86;p4"/>
          <p:cNvSpPr txBox="1">
            <a:spLocks noGrp="1"/>
          </p:cNvSpPr>
          <p:nvPr>
            <p:ph type="body" idx="1"/>
          </p:nvPr>
        </p:nvSpPr>
        <p:spPr>
          <a:xfrm>
            <a:off x="548640" y="914400"/>
            <a:ext cx="32913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dk1"/>
                </a:solidFill>
              </a:rPr>
              <a:t>1. Inertia Tuning: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dk1"/>
              </a:solidFill>
            </a:endParaRPr>
          </a:p>
        </p:txBody>
      </p:sp>
      <p:sp>
        <p:nvSpPr>
          <p:cNvPr id="87" name="Google Shape;87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4</a:t>
            </a:fld>
            <a:endParaRPr/>
          </a:p>
        </p:txBody>
      </p:sp>
      <p:sp>
        <p:nvSpPr>
          <p:cNvPr id="88" name="Google Shape;88;p4"/>
          <p:cNvSpPr txBox="1"/>
          <p:nvPr/>
        </p:nvSpPr>
        <p:spPr>
          <a:xfrm>
            <a:off x="5486400" y="1188720"/>
            <a:ext cx="3133500" cy="175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75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 b="1" dirty="0">
                <a:solidFill>
                  <a:schemeClr val="dk1"/>
                </a:solidFill>
              </a:rPr>
              <a:t>Too strong </a:t>
            </a:r>
            <a:r>
              <a:rPr lang="en" dirty="0">
                <a:solidFill>
                  <a:schemeClr val="dk1"/>
                </a:solidFill>
              </a:rPr>
              <a:t>→ agent sleeps through survival emergencies</a:t>
            </a:r>
            <a:endParaRPr dirty="0">
              <a:solidFill>
                <a:schemeClr val="dk1"/>
              </a:solidFill>
            </a:endParaRPr>
          </a:p>
          <a:p>
            <a:pPr marL="457200" lvl="0" indent="-3175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 b="1" dirty="0">
                <a:solidFill>
                  <a:schemeClr val="dk1"/>
                </a:solidFill>
              </a:rPr>
              <a:t>Too weak</a:t>
            </a:r>
            <a:r>
              <a:rPr lang="en" dirty="0">
                <a:solidFill>
                  <a:schemeClr val="dk1"/>
                </a:solidFill>
              </a:rPr>
              <a:t> → agent jitters between actions every cycle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2"/>
              </a:solidFill>
            </a:endParaRPr>
          </a:p>
        </p:txBody>
      </p:sp>
      <p:sp>
        <p:nvSpPr>
          <p:cNvPr id="89" name="Google Shape;89;p4"/>
          <p:cNvSpPr txBox="1"/>
          <p:nvPr/>
        </p:nvSpPr>
        <p:spPr>
          <a:xfrm>
            <a:off x="5486400" y="3200400"/>
            <a:ext cx="3408600" cy="182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 b="1">
                <a:solidFill>
                  <a:schemeClr val="dk1"/>
                </a:solidFill>
              </a:rPr>
              <a:t>Stability</a:t>
            </a:r>
            <a:r>
              <a:rPr lang="en">
                <a:solidFill>
                  <a:schemeClr val="dk1"/>
                </a:solidFill>
              </a:rPr>
              <a:t> → can be gamed (idle agents score perfectly)</a:t>
            </a:r>
            <a:endParaRPr>
              <a:solidFill>
                <a:schemeClr val="dk1"/>
              </a:solidFill>
            </a:endParaRPr>
          </a:p>
          <a:p>
            <a:pPr marL="457200" lvl="0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 b="1">
                <a:solidFill>
                  <a:schemeClr val="dk1"/>
                </a:solidFill>
              </a:rPr>
              <a:t>Adaptability </a:t>
            </a:r>
            <a:r>
              <a:rPr lang="en">
                <a:solidFill>
                  <a:schemeClr val="dk1"/>
                </a:solidFill>
              </a:rPr>
              <a:t>→ depends on how tests are designed (easy or hard scenarios yield no signal)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90" name="Google Shape;90;p4"/>
          <p:cNvSpPr txBox="1"/>
          <p:nvPr/>
        </p:nvSpPr>
        <p:spPr>
          <a:xfrm>
            <a:off x="137160" y="1463040"/>
            <a:ext cx="3950400" cy="138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</a:rPr>
              <a:t>Action inertia is a score bonus on the currently-active action in the utility agent</a:t>
            </a:r>
            <a:endParaRPr dirty="0">
              <a:solidFill>
                <a:schemeClr val="dk1"/>
              </a:solidFill>
            </a:endParaRPr>
          </a:p>
          <a:p>
            <a:pPr marL="45720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2"/>
              </a:solidFill>
            </a:endParaRPr>
          </a:p>
        </p:txBody>
      </p:sp>
      <p:sp>
        <p:nvSpPr>
          <p:cNvPr id="91" name="Google Shape;91;p4"/>
          <p:cNvSpPr txBox="1"/>
          <p:nvPr/>
        </p:nvSpPr>
        <p:spPr>
          <a:xfrm>
            <a:off x="137160" y="3200400"/>
            <a:ext cx="3768900" cy="120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Stability and adaptability are numeric proxies for “believable behavior”</a:t>
            </a:r>
            <a:endParaRPr sz="1800" dirty="0">
              <a:solidFill>
                <a:schemeClr val="dk2"/>
              </a:solidFill>
            </a:endParaRPr>
          </a:p>
        </p:txBody>
      </p:sp>
      <p:sp>
        <p:nvSpPr>
          <p:cNvPr id="92" name="Google Shape;92;p4"/>
          <p:cNvSpPr txBox="1"/>
          <p:nvPr/>
        </p:nvSpPr>
        <p:spPr>
          <a:xfrm>
            <a:off x="548640" y="2743200"/>
            <a:ext cx="3357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solidFill>
                  <a:schemeClr val="dk1"/>
                </a:solidFill>
              </a:rPr>
              <a:t>2. Metric Validity:</a:t>
            </a:r>
            <a:endParaRPr sz="1800" b="1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2"/>
              </a:solidFill>
            </a:endParaRPr>
          </a:p>
        </p:txBody>
      </p:sp>
      <p:sp>
        <p:nvSpPr>
          <p:cNvPr id="93" name="Google Shape;93;p4"/>
          <p:cNvSpPr/>
          <p:nvPr/>
        </p:nvSpPr>
        <p:spPr>
          <a:xfrm>
            <a:off x="3840480" y="3383280"/>
            <a:ext cx="1561500" cy="63060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4"/>
          <p:cNvSpPr/>
          <p:nvPr/>
        </p:nvSpPr>
        <p:spPr>
          <a:xfrm>
            <a:off x="3840480" y="1550525"/>
            <a:ext cx="1561500" cy="63060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5"/>
          <p:cNvSpPr txBox="1">
            <a:spLocks noGrp="1"/>
          </p:cNvSpPr>
          <p:nvPr>
            <p:ph type="title"/>
          </p:nvPr>
        </p:nvSpPr>
        <p:spPr>
          <a:xfrm>
            <a:off x="548640" y="38404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11"/>
              <a:buNone/>
            </a:pPr>
            <a:r>
              <a:rPr lang="en" sz="2200" b="1" dirty="0"/>
              <a:t>Review of Existing Work in this Area</a:t>
            </a:r>
            <a:endParaRPr sz="2200" b="1" dirty="0"/>
          </a:p>
        </p:txBody>
      </p:sp>
      <p:sp>
        <p:nvSpPr>
          <p:cNvPr id="100" name="Google Shape;100;p5"/>
          <p:cNvSpPr txBox="1">
            <a:spLocks noGrp="1"/>
          </p:cNvSpPr>
          <p:nvPr>
            <p:ph type="body" idx="1"/>
          </p:nvPr>
        </p:nvSpPr>
        <p:spPr>
          <a:xfrm>
            <a:off x="548640" y="914400"/>
            <a:ext cx="6756600" cy="69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7200"/>
              <a:buNone/>
            </a:pPr>
            <a:r>
              <a:rPr lang="en" sz="1400" b="1" dirty="0">
                <a:solidFill>
                  <a:schemeClr val="dk1"/>
                </a:solidFill>
              </a:rPr>
              <a:t>Emergent NPC decision-making:</a:t>
            </a:r>
            <a:endParaRPr sz="1400" b="1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i="1" dirty="0">
                <a:solidFill>
                  <a:schemeClr val="dk1"/>
                </a:solidFill>
              </a:rPr>
              <a:t>aims for stable, adaptive behavior without a scripted response for every situation</a:t>
            </a:r>
            <a:endParaRPr sz="1400" i="1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i="1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i="1" dirty="0">
              <a:solidFill>
                <a:schemeClr val="dk1"/>
              </a:solidFill>
            </a:endParaRPr>
          </a:p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SzPts val="7200"/>
              <a:buNone/>
            </a:pPr>
            <a:endParaRPr sz="1400" dirty="0">
              <a:solidFill>
                <a:schemeClr val="dk1"/>
              </a:solidFill>
            </a:endParaRPr>
          </a:p>
        </p:txBody>
      </p:sp>
      <p:sp>
        <p:nvSpPr>
          <p:cNvPr id="101" name="Google Shape;101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5</a:t>
            </a:fld>
            <a:endParaRPr/>
          </a:p>
        </p:txBody>
      </p:sp>
      <p:graphicFrame>
        <p:nvGraphicFramePr>
          <p:cNvPr id="102" name="Google Shape;102;p5"/>
          <p:cNvGraphicFramePr/>
          <p:nvPr>
            <p:extLst>
              <p:ext uri="{D42A27DB-BD31-4B8C-83A1-F6EECF244321}">
                <p14:modId xmlns:p14="http://schemas.microsoft.com/office/powerpoint/2010/main" val="4008651297"/>
              </p:ext>
            </p:extLst>
          </p:nvPr>
        </p:nvGraphicFramePr>
        <p:xfrm>
          <a:off x="548640" y="1645920"/>
          <a:ext cx="8176000" cy="2701000"/>
        </p:xfrm>
        <a:graphic>
          <a:graphicData uri="http://schemas.openxmlformats.org/drawingml/2006/table">
            <a:tbl>
              <a:tblPr>
                <a:noFill/>
                <a:tableStyleId>{629DBEC2-58FE-42DA-915E-554960D095A8}</a:tableStyleId>
              </a:tblPr>
              <a:tblGrid>
                <a:gridCol w="408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8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96150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b="1" dirty="0"/>
                        <a:t>Two Main Directions</a:t>
                      </a:r>
                      <a:endParaRPr b="1" dirty="0"/>
                    </a:p>
                  </a:txBody>
                  <a:tcPr marL="91425" marR="91425" marT="91425" marB="91425">
                    <a:solidFill>
                      <a:schemeClr val="l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15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Lightweight / Classical (Utility AI)</a:t>
                      </a:r>
                      <a:endParaRPr dirty="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Heavy / Generative (LLM-driven agents)</a:t>
                      </a: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53350">
                <a:tc>
                  <a:txBody>
                    <a:bodyPr/>
                    <a:lstStyle/>
                    <a:p>
                      <a:pPr marL="457200" lvl="0" indent="-31750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Char char="●"/>
                      </a:pPr>
                      <a:r>
                        <a:rPr lang="en" dirty="0">
                          <a:solidFill>
                            <a:schemeClr val="dk1"/>
                          </a:solidFill>
                        </a:rPr>
                        <a:t>Agents score each action mathematically, pick the highest</a:t>
                      </a:r>
                      <a:endParaRPr dirty="0">
                        <a:solidFill>
                          <a:schemeClr val="dk1"/>
                        </a:solidFill>
                      </a:endParaRPr>
                    </a:p>
                    <a:p>
                      <a:pPr marL="457200" lvl="0" indent="-31750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Char char="●"/>
                      </a:pPr>
                      <a:r>
                        <a:rPr lang="en" dirty="0">
                          <a:solidFill>
                            <a:schemeClr val="dk1"/>
                          </a:solidFill>
                        </a:rPr>
                        <a:t>Textbook defines response curves and action inertia, but </a:t>
                      </a: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but does not measure how much each one contributes</a:t>
                      </a:r>
                      <a:endParaRPr dirty="0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457200" lvl="0" indent="-31750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Char char="●"/>
                      </a:pPr>
                      <a:r>
                        <a:rPr lang="en" dirty="0">
                          <a:solidFill>
                            <a:schemeClr val="dk1"/>
                          </a:solidFill>
                        </a:rPr>
                        <a:t>LLM agents plan, remember, and socialize believably (25-NPC sandbox study)</a:t>
                      </a:r>
                    </a:p>
                    <a:p>
                      <a:pPr marL="457200" lvl="0" indent="-31750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Char char="●"/>
                      </a:pP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Decisions emerge from the model as a whole, so individual mechanisms cannot be isolated</a:t>
                      </a:r>
                      <a:endParaRPr dirty="0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3" name="Google Shape;103;p5"/>
          <p:cNvSpPr txBox="1"/>
          <p:nvPr/>
        </p:nvSpPr>
        <p:spPr>
          <a:xfrm>
            <a:off x="548640" y="4389120"/>
            <a:ext cx="15171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chemeClr val="dk2"/>
                </a:solidFill>
              </a:rPr>
              <a:t>(Mark, 2009)</a:t>
            </a:r>
            <a:endParaRPr sz="1100" dirty="0">
              <a:solidFill>
                <a:schemeClr val="dk2"/>
              </a:solidFill>
            </a:endParaRPr>
          </a:p>
        </p:txBody>
      </p:sp>
      <p:sp>
        <p:nvSpPr>
          <p:cNvPr id="104" name="Google Shape;104;p5"/>
          <p:cNvSpPr txBox="1"/>
          <p:nvPr/>
        </p:nvSpPr>
        <p:spPr>
          <a:xfrm>
            <a:off x="7315200" y="4389120"/>
            <a:ext cx="13800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2"/>
                </a:solidFill>
              </a:rPr>
              <a:t>(Park et al., 2023)</a:t>
            </a:r>
            <a:endParaRPr sz="11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7"/>
          <p:cNvSpPr txBox="1">
            <a:spLocks noGrp="1"/>
          </p:cNvSpPr>
          <p:nvPr>
            <p:ph type="title"/>
          </p:nvPr>
        </p:nvSpPr>
        <p:spPr>
          <a:xfrm>
            <a:off x="548640" y="384048"/>
            <a:ext cx="8472518" cy="5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11"/>
              <a:buNone/>
            </a:pPr>
            <a:r>
              <a:rPr lang="en" sz="2200" b="1" dirty="0"/>
              <a:t>How Our Approach Addresses Limitations of Existing Models</a:t>
            </a:r>
            <a:endParaRPr sz="2200" b="1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11"/>
              <a:buNone/>
            </a:pPr>
            <a:endParaRPr sz="2466" dirty="0"/>
          </a:p>
        </p:txBody>
      </p:sp>
      <p:sp>
        <p:nvSpPr>
          <p:cNvPr id="110" name="Google Shape;110;p7"/>
          <p:cNvSpPr txBox="1">
            <a:spLocks noGrp="1"/>
          </p:cNvSpPr>
          <p:nvPr>
            <p:ph type="body" idx="1"/>
          </p:nvPr>
        </p:nvSpPr>
        <p:spPr>
          <a:xfrm>
            <a:off x="548650" y="914400"/>
            <a:ext cx="82389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dk1"/>
                </a:solidFill>
              </a:rPr>
              <a:t>Our approach aims to address this limitation by empirically isolating response curves and action inertia</a:t>
            </a:r>
            <a:endParaRPr sz="1400" dirty="0">
              <a:solidFill>
                <a:schemeClr val="dk1"/>
              </a:solidFill>
            </a:endParaRPr>
          </a:p>
        </p:txBody>
      </p:sp>
      <p:sp>
        <p:nvSpPr>
          <p:cNvPr id="111" name="Google Shape;11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6</a:t>
            </a:fld>
            <a:endParaRPr/>
          </a:p>
        </p:txBody>
      </p:sp>
      <p:sp>
        <p:nvSpPr>
          <p:cNvPr id="112" name="Google Shape;112;p7"/>
          <p:cNvSpPr txBox="1"/>
          <p:nvPr/>
        </p:nvSpPr>
        <p:spPr>
          <a:xfrm>
            <a:off x="548640" y="4389120"/>
            <a:ext cx="1077600" cy="34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dk2"/>
                </a:solidFill>
              </a:rPr>
              <a:t>(Mark, 2009)</a:t>
            </a:r>
            <a:endParaRPr sz="110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2"/>
              </a:solidFill>
            </a:endParaRPr>
          </a:p>
        </p:txBody>
      </p:sp>
      <p:graphicFrame>
        <p:nvGraphicFramePr>
          <p:cNvPr id="113" name="Google Shape;113;p7"/>
          <p:cNvGraphicFramePr/>
          <p:nvPr/>
        </p:nvGraphicFramePr>
        <p:xfrm>
          <a:off x="548675" y="1554480"/>
          <a:ext cx="8352250" cy="2672625"/>
        </p:xfrm>
        <a:graphic>
          <a:graphicData uri="http://schemas.openxmlformats.org/drawingml/2006/table">
            <a:tbl>
              <a:tblPr>
                <a:noFill/>
                <a:tableStyleId>{629DBEC2-58FE-42DA-915E-554960D095A8}</a:tableStyleId>
              </a:tblPr>
              <a:tblGrid>
                <a:gridCol w="4176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76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93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/>
                        <a:t>Utility AI Foundations</a:t>
                      </a:r>
                      <a:endParaRPr b="1"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/>
                        <a:t>Our Approach</a:t>
                      </a:r>
                      <a:endParaRPr b="1"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44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Response curves: math mapping need to desire</a:t>
                      </a:r>
                      <a:endParaRPr dirty="0"/>
                    </a:p>
                  </a:txBody>
                  <a:tcPr marL="91425" marR="91425" marT="91425" marB="91425"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/>
                        <a:t>Baseline vs. curves-only</a:t>
                      </a:r>
                      <a:r>
                        <a:rPr lang="en"/>
                        <a:t>: measures the curve's contribution</a:t>
                      </a:r>
                      <a:endParaRPr/>
                    </a:p>
                  </a:txBody>
                  <a:tcPr marL="91425" marR="91425" marT="91425" marB="91425"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44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Action inertia (decision momentum): commitment bonus on active action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/>
                        <a:t>Baseline vs. inertia-only</a:t>
                      </a:r>
                      <a:r>
                        <a:rPr lang="en"/>
                        <a:t>: measures inertia's contribution</a:t>
                      </a: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444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Established design tools; empirical isolation remains open</a:t>
                      </a:r>
                      <a:endParaRPr/>
                    </a:p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/>
                        <a:t>Full 4-condition ablation:</a:t>
                      </a:r>
                      <a:r>
                        <a:rPr lang="en" dirty="0"/>
                        <a:t> quantifies each mechanism's effect on stability and adaptability</a:t>
                      </a:r>
                      <a:endParaRPr dirty="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8"/>
          <p:cNvSpPr txBox="1">
            <a:spLocks noGrp="1"/>
          </p:cNvSpPr>
          <p:nvPr>
            <p:ph type="title"/>
          </p:nvPr>
        </p:nvSpPr>
        <p:spPr>
          <a:xfrm>
            <a:off x="548640" y="38404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11"/>
              <a:buNone/>
            </a:pPr>
            <a:r>
              <a:rPr lang="en" sz="2200" b="1" dirty="0"/>
              <a:t>Potential Improvements over Current Techniques</a:t>
            </a:r>
            <a:endParaRPr sz="2200" b="1" dirty="0"/>
          </a:p>
        </p:txBody>
      </p:sp>
      <p:sp>
        <p:nvSpPr>
          <p:cNvPr id="119" name="Google Shape;119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7</a:t>
            </a:fld>
            <a:endParaRPr/>
          </a:p>
        </p:txBody>
      </p:sp>
      <p:sp>
        <p:nvSpPr>
          <p:cNvPr id="120" name="Google Shape;120;p8"/>
          <p:cNvSpPr txBox="1"/>
          <p:nvPr/>
        </p:nvSpPr>
        <p:spPr>
          <a:xfrm>
            <a:off x="548640" y="914400"/>
            <a:ext cx="6336600" cy="46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</a:rPr>
              <a:t>We aim to move established utility AI from description to measurement</a:t>
            </a:r>
            <a:endParaRPr dirty="0">
              <a:solidFill>
                <a:schemeClr val="dk1"/>
              </a:solidFill>
            </a:endParaRPr>
          </a:p>
        </p:txBody>
      </p:sp>
      <p:sp>
        <p:nvSpPr>
          <p:cNvPr id="121" name="Google Shape;121;p8"/>
          <p:cNvSpPr/>
          <p:nvPr/>
        </p:nvSpPr>
        <p:spPr>
          <a:xfrm>
            <a:off x="548640" y="1417320"/>
            <a:ext cx="2469000" cy="30174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dk1"/>
                </a:solidFill>
              </a:rPr>
              <a:t>Mechanism contributions:</a:t>
            </a:r>
            <a:r>
              <a:rPr lang="en" dirty="0">
                <a:solidFill>
                  <a:schemeClr val="dk1"/>
                </a:solidFill>
              </a:rPr>
              <a:t> </a:t>
            </a:r>
            <a:endParaRPr dirty="0">
              <a:solidFill>
                <a:schemeClr val="dk1"/>
              </a:solidFill>
            </a:endParaRPr>
          </a:p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</a:rPr>
              <a:t>measure how curves and inertia each affect stability and adaptability</a:t>
            </a:r>
            <a:endParaRPr b="1" dirty="0">
              <a:solidFill>
                <a:schemeClr val="dk1"/>
              </a:solidFill>
            </a:endParaRPr>
          </a:p>
        </p:txBody>
      </p:sp>
      <p:sp>
        <p:nvSpPr>
          <p:cNvPr id="122" name="Google Shape;122;p8"/>
          <p:cNvSpPr/>
          <p:nvPr/>
        </p:nvSpPr>
        <p:spPr>
          <a:xfrm>
            <a:off x="3291840" y="1417320"/>
            <a:ext cx="2469000" cy="30174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dk1"/>
                </a:solidFill>
              </a:rPr>
              <a:t>Interaction effects:</a:t>
            </a:r>
            <a:endParaRPr b="1" dirty="0">
              <a:solidFill>
                <a:schemeClr val="dk1"/>
              </a:solidFill>
            </a:endParaRPr>
          </a:p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</a:rPr>
              <a:t>test whether curves and inertia compound, add, or interfere</a:t>
            </a:r>
            <a:endParaRPr dirty="0">
              <a:solidFill>
                <a:schemeClr val="dk1"/>
              </a:solidFill>
            </a:endParaRPr>
          </a:p>
        </p:txBody>
      </p:sp>
      <p:sp>
        <p:nvSpPr>
          <p:cNvPr id="123" name="Google Shape;123;p8"/>
          <p:cNvSpPr/>
          <p:nvPr/>
        </p:nvSpPr>
        <p:spPr>
          <a:xfrm>
            <a:off x="6035040" y="1417320"/>
            <a:ext cx="2469000" cy="30174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dk1"/>
                </a:solidFill>
              </a:rPr>
              <a:t>Design guidance: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may suggest preliminary tuning cues for curves and inertia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>
          <a:extLst>
            <a:ext uri="{FF2B5EF4-FFF2-40B4-BE49-F238E27FC236}">
              <a16:creationId xmlns:a16="http://schemas.microsoft.com/office/drawing/2014/main" id="{5B5084FC-3908-2B3E-D7FD-854F59B127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7">
            <a:extLst>
              <a:ext uri="{FF2B5EF4-FFF2-40B4-BE49-F238E27FC236}">
                <a16:creationId xmlns:a16="http://schemas.microsoft.com/office/drawing/2014/main" id="{8FEB3443-DD62-6D62-0EEE-FC81C47A648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48640" y="384048"/>
            <a:ext cx="8472518" cy="5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buSzPts val="3111"/>
            </a:pPr>
            <a:r>
              <a:rPr lang="en-US" sz="2200" b="1" dirty="0"/>
              <a:t>Pilot Testing and Findings</a:t>
            </a:r>
            <a:endParaRPr sz="2200" dirty="0"/>
          </a:p>
        </p:txBody>
      </p:sp>
      <p:sp>
        <p:nvSpPr>
          <p:cNvPr id="110" name="Google Shape;110;p7">
            <a:extLst>
              <a:ext uri="{FF2B5EF4-FFF2-40B4-BE49-F238E27FC236}">
                <a16:creationId xmlns:a16="http://schemas.microsoft.com/office/drawing/2014/main" id="{295D3D7D-69D8-5B4B-BB29-6E527DCDB25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48650" y="914400"/>
            <a:ext cx="82389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lnSpc>
                <a:spcPct val="150000"/>
              </a:lnSpc>
              <a:buNone/>
            </a:pPr>
            <a:r>
              <a:rPr lang="en-US" sz="1400" dirty="0">
                <a:solidFill>
                  <a:schemeClr val="dk1"/>
                </a:solidFill>
              </a:rPr>
              <a:t>The measurement pipeline is in use; these are the first pilot results</a:t>
            </a:r>
            <a:endParaRPr sz="1400" dirty="0">
              <a:solidFill>
                <a:schemeClr val="dk1"/>
              </a:solidFill>
            </a:endParaRPr>
          </a:p>
        </p:txBody>
      </p:sp>
      <p:sp>
        <p:nvSpPr>
          <p:cNvPr id="111" name="Google Shape;111;p7">
            <a:extLst>
              <a:ext uri="{FF2B5EF4-FFF2-40B4-BE49-F238E27FC236}">
                <a16:creationId xmlns:a16="http://schemas.microsoft.com/office/drawing/2014/main" id="{9F340324-979B-AB0F-EEFD-83202D4F121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8</a:t>
            </a:fld>
            <a:endParaRPr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85D1DA0D-E8F2-1B78-CD2E-EF515B5538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8023661"/>
              </p:ext>
            </p:extLst>
          </p:nvPr>
        </p:nvGraphicFramePr>
        <p:xfrm>
          <a:off x="548640" y="1554480"/>
          <a:ext cx="3927261" cy="1556613"/>
        </p:xfrm>
        <a:graphic>
          <a:graphicData uri="http://schemas.openxmlformats.org/drawingml/2006/table">
            <a:tbl>
              <a:tblPr firstRow="1" bandRow="1"/>
              <a:tblGrid>
                <a:gridCol w="1443213">
                  <a:extLst>
                    <a:ext uri="{9D8B030D-6E8A-4147-A177-3AD203B41FA5}">
                      <a16:colId xmlns:a16="http://schemas.microsoft.com/office/drawing/2014/main" val="1029067552"/>
                    </a:ext>
                  </a:extLst>
                </a:gridCol>
                <a:gridCol w="1174962">
                  <a:extLst>
                    <a:ext uri="{9D8B030D-6E8A-4147-A177-3AD203B41FA5}">
                      <a16:colId xmlns:a16="http://schemas.microsoft.com/office/drawing/2014/main" val="2928668017"/>
                    </a:ext>
                  </a:extLst>
                </a:gridCol>
                <a:gridCol w="1309086">
                  <a:extLst>
                    <a:ext uri="{9D8B030D-6E8A-4147-A177-3AD203B41FA5}">
                      <a16:colId xmlns:a16="http://schemas.microsoft.com/office/drawing/2014/main" val="3643515676"/>
                    </a:ext>
                  </a:extLst>
                </a:gridCol>
              </a:tblGrid>
              <a:tr h="289141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Baseline</a:t>
                      </a:r>
                      <a:endParaRPr 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Utility</a:t>
                      </a:r>
                      <a:endParaRPr 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7606958"/>
                  </a:ext>
                </a:extLst>
              </a:tr>
              <a:tr h="289141">
                <a:tc>
                  <a:txBody>
                    <a:bodyPr/>
                    <a:lstStyle/>
                    <a:p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Decisions</a:t>
                      </a:r>
                      <a:endParaRPr 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46.0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45.5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2891731"/>
                  </a:ext>
                </a:extLst>
              </a:tr>
              <a:tr h="289141">
                <a:tc>
                  <a:txBody>
                    <a:bodyPr/>
                    <a:lstStyle/>
                    <a:p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Interruptions</a:t>
                      </a:r>
                      <a:endParaRPr 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12.6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9.6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4629797"/>
                  </a:ext>
                </a:extLst>
              </a:tr>
              <a:tr h="337413">
                <a:tc>
                  <a:txBody>
                    <a:bodyPr/>
                    <a:lstStyle/>
                    <a:p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Interruption rate</a:t>
                      </a:r>
                      <a:endParaRPr 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27%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21%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6350290"/>
                  </a:ext>
                </a:extLst>
              </a:tr>
              <a:tr h="289141">
                <a:tc gridSpan="3">
                  <a:txBody>
                    <a:bodyPr/>
                    <a:lstStyle/>
                    <a:p>
                      <a:r>
                        <a:rPr lang="en-US" dirty="0"/>
                        <a:t>8 repeats, 300 simulated seconds each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636919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6C5BA71-D3CB-7AA6-FA8D-10D30EE80DD5}"/>
              </a:ext>
            </a:extLst>
          </p:cNvPr>
          <p:cNvSpPr txBox="1"/>
          <p:nvPr/>
        </p:nvSpPr>
        <p:spPr>
          <a:xfrm>
            <a:off x="4784899" y="1557150"/>
            <a:ext cx="3476065" cy="2893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Two design flaws corrected: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misaligned intervention points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 shared action lock</a:t>
            </a:r>
          </a:p>
          <a:p>
            <a:endParaRPr lang="en-US" b="1" dirty="0"/>
          </a:p>
          <a:p>
            <a:r>
              <a:rPr lang="en-US" b="1" dirty="0"/>
              <a:t>First measured effect: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interruptions down 24%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direction held in all 8 repeats</a:t>
            </a:r>
          </a:p>
          <a:p>
            <a:endParaRPr lang="en-US" b="1" dirty="0"/>
          </a:p>
          <a:p>
            <a:r>
              <a:rPr lang="en-US" b="1" dirty="0"/>
              <a:t>Three limits remain: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curves and inertia varied together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 arbitration occurred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some interruptions were justified rather than harmful</a:t>
            </a:r>
          </a:p>
        </p:txBody>
      </p:sp>
    </p:spTree>
    <p:extLst>
      <p:ext uri="{BB962C8B-B14F-4D97-AF65-F5344CB8AC3E}">
        <p14:creationId xmlns:p14="http://schemas.microsoft.com/office/powerpoint/2010/main" val="28055227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9"/>
          <p:cNvSpPr txBox="1">
            <a:spLocks noGrp="1"/>
          </p:cNvSpPr>
          <p:nvPr>
            <p:ph type="title"/>
          </p:nvPr>
        </p:nvSpPr>
        <p:spPr>
          <a:xfrm>
            <a:off x="548640" y="38404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11"/>
              <a:buNone/>
            </a:pPr>
            <a:r>
              <a:rPr lang="en" sz="2200" b="1" dirty="0"/>
              <a:t>A Tentative Timeline for Completion</a:t>
            </a:r>
            <a:endParaRPr sz="2200" b="1" dirty="0"/>
          </a:p>
        </p:txBody>
      </p:sp>
      <p:sp>
        <p:nvSpPr>
          <p:cNvPr id="129" name="Google Shape;129;p9"/>
          <p:cNvSpPr txBox="1">
            <a:spLocks noGrp="1"/>
          </p:cNvSpPr>
          <p:nvPr>
            <p:ph type="body" idx="1"/>
          </p:nvPr>
        </p:nvSpPr>
        <p:spPr>
          <a:xfrm>
            <a:off x="836800" y="1400075"/>
            <a:ext cx="7317600" cy="291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307"/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7200"/>
              <a:buNone/>
            </a:pPr>
            <a:endParaRPr/>
          </a:p>
        </p:txBody>
      </p:sp>
      <p:sp>
        <p:nvSpPr>
          <p:cNvPr id="130" name="Google Shape;13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9</a:t>
            </a:fld>
            <a:endParaRPr/>
          </a:p>
        </p:txBody>
      </p:sp>
      <p:sp>
        <p:nvSpPr>
          <p:cNvPr id="131" name="Google Shape;131;p9"/>
          <p:cNvSpPr/>
          <p:nvPr/>
        </p:nvSpPr>
        <p:spPr>
          <a:xfrm>
            <a:off x="548640" y="1097280"/>
            <a:ext cx="3840600" cy="34746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/>
              <a:t>Completed</a:t>
            </a:r>
            <a:endParaRPr b="1" dirty="0"/>
          </a:p>
          <a:p>
            <a:pPr algn="ctr">
              <a:lnSpc>
                <a:spcPct val="150000"/>
              </a:lnSpc>
            </a:pPr>
            <a:r>
              <a:rPr lang="en-US" b="1" dirty="0"/>
              <a:t>Spring 2026</a:t>
            </a:r>
          </a:p>
          <a:p>
            <a:pPr>
              <a:lnSpc>
                <a:spcPct val="150000"/>
              </a:lnSpc>
            </a:pPr>
            <a:r>
              <a:rPr lang="en-US" b="1" dirty="0"/>
              <a:t>Foundation:</a:t>
            </a:r>
            <a:r>
              <a:rPr lang="en-US" dirty="0"/>
              <a:t> simulation, swappable brains, both agents, live demo</a:t>
            </a:r>
          </a:p>
          <a:p>
            <a:pPr algn="ctr">
              <a:lnSpc>
                <a:spcPct val="150000"/>
              </a:lnSpc>
            </a:pPr>
            <a:r>
              <a:rPr lang="en-US" b="1" dirty="0"/>
              <a:t>Summer 2026</a:t>
            </a:r>
          </a:p>
          <a:p>
            <a:pPr>
              <a:lnSpc>
                <a:spcPct val="150000"/>
              </a:lnSpc>
            </a:pPr>
            <a:r>
              <a:rPr lang="en-US" b="1" dirty="0"/>
              <a:t>Measurement pipeline: </a:t>
            </a:r>
            <a:r>
              <a:rPr lang="en-US" dirty="0"/>
              <a:t>decisions and configurations logged to CSV</a:t>
            </a:r>
          </a:p>
          <a:p>
            <a:pPr>
              <a:lnSpc>
                <a:spcPct val="150000"/>
              </a:lnSpc>
            </a:pPr>
            <a:r>
              <a:rPr lang="en-US" b="1" dirty="0"/>
              <a:t>Design corrections: </a:t>
            </a:r>
            <a:r>
              <a:rPr lang="en-US" dirty="0"/>
              <a:t>intervention points calibrated, shared action lock removed</a:t>
            </a:r>
          </a:p>
          <a:p>
            <a:pPr>
              <a:lnSpc>
                <a:spcPct val="150000"/>
              </a:lnSpc>
            </a:pPr>
            <a:r>
              <a:rPr lang="en-US" b="1" dirty="0"/>
              <a:t>Pilot runs: </a:t>
            </a:r>
            <a:r>
              <a:rPr lang="en-US" dirty="0"/>
              <a:t>first repeated measurements</a:t>
            </a:r>
          </a:p>
        </p:txBody>
      </p:sp>
      <p:sp>
        <p:nvSpPr>
          <p:cNvPr id="132" name="Google Shape;132;p9"/>
          <p:cNvSpPr/>
          <p:nvPr/>
        </p:nvSpPr>
        <p:spPr>
          <a:xfrm>
            <a:off x="4572000" y="1097280"/>
            <a:ext cx="3840600" cy="34746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ctr">
              <a:lnSpc>
                <a:spcPct val="150000"/>
              </a:lnSpc>
            </a:pPr>
            <a:r>
              <a:rPr lang="en" b="1" dirty="0"/>
              <a:t>Planned</a:t>
            </a:r>
          </a:p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/>
              <a:t>Fall 2026</a:t>
            </a:r>
            <a:endParaRPr b="1" dirty="0"/>
          </a:p>
          <a:p>
            <a:pPr>
              <a:lnSpc>
                <a:spcPct val="150000"/>
              </a:lnSpc>
            </a:pPr>
            <a:r>
              <a:rPr lang="en-US" b="1" dirty="0"/>
              <a:t>Stability metric: </a:t>
            </a:r>
            <a:r>
              <a:rPr lang="en-US" dirty="0"/>
              <a:t>separate oscillation from justified switching</a:t>
            </a:r>
          </a:p>
          <a:p>
            <a:pPr>
              <a:lnSpc>
                <a:spcPct val="150000"/>
              </a:lnSpc>
            </a:pPr>
            <a:r>
              <a:rPr lang="en-US" b="1" dirty="0"/>
              <a:t>Adaptability scenario: </a:t>
            </a:r>
            <a:r>
              <a:rPr lang="en-US" dirty="0"/>
              <a:t>resource removal</a:t>
            </a:r>
          </a:p>
          <a:p>
            <a:pPr>
              <a:lnSpc>
                <a:spcPct val="150000"/>
              </a:lnSpc>
            </a:pPr>
            <a:r>
              <a:rPr lang="en-US" b="1" dirty="0"/>
              <a:t>Seeded randomization: </a:t>
            </a:r>
            <a:r>
              <a:rPr lang="en-US" dirty="0"/>
              <a:t>sample across starting conditions</a:t>
            </a:r>
          </a:p>
          <a:p>
            <a:pPr>
              <a:lnSpc>
                <a:spcPct val="150000"/>
              </a:lnSpc>
            </a:pPr>
            <a:r>
              <a:rPr lang="en-US" b="1" dirty="0"/>
              <a:t>Four-condition ablation:</a:t>
            </a:r>
            <a:r>
              <a:rPr lang="en-US" dirty="0"/>
              <a:t> separate curve from inertia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d83d978854_4_31"/>
          <p:cNvSpPr txBox="1">
            <a:spLocks noGrp="1"/>
          </p:cNvSpPr>
          <p:nvPr>
            <p:ph type="title"/>
          </p:nvPr>
        </p:nvSpPr>
        <p:spPr>
          <a:xfrm>
            <a:off x="548640" y="384048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 b="1" dirty="0"/>
              <a:t>References</a:t>
            </a:r>
            <a:endParaRPr sz="2200" b="1" dirty="0"/>
          </a:p>
        </p:txBody>
      </p:sp>
      <p:sp>
        <p:nvSpPr>
          <p:cNvPr id="138" name="Google Shape;138;g3d83d978854_4_31"/>
          <p:cNvSpPr txBox="1">
            <a:spLocks noGrp="1"/>
          </p:cNvSpPr>
          <p:nvPr>
            <p:ph type="body" idx="1"/>
          </p:nvPr>
        </p:nvSpPr>
        <p:spPr>
          <a:xfrm>
            <a:off x="548640" y="1371600"/>
            <a:ext cx="8520600" cy="305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17500" algn="l" rtl="0">
              <a:lnSpc>
                <a:spcPct val="142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 sz="1400" dirty="0">
                <a:solidFill>
                  <a:schemeClr val="dk1"/>
                </a:solidFill>
              </a:rPr>
              <a:t>Mark, D. (2009). </a:t>
            </a:r>
            <a:r>
              <a:rPr lang="en" sz="1400" i="1" dirty="0">
                <a:solidFill>
                  <a:schemeClr val="dk1"/>
                </a:solidFill>
              </a:rPr>
              <a:t>Behavioral Mathematics for Game AI.</a:t>
            </a:r>
            <a:r>
              <a:rPr lang="en" sz="1400" dirty="0">
                <a:solidFill>
                  <a:schemeClr val="dk1"/>
                </a:solidFill>
              </a:rPr>
              <a:t> Course Technology/Cengage.</a:t>
            </a:r>
            <a:endParaRPr sz="1400" dirty="0">
              <a:solidFill>
                <a:schemeClr val="dk1"/>
              </a:solidFill>
            </a:endParaRPr>
          </a:p>
          <a:p>
            <a:pPr marL="457200" lvl="0" indent="-317500" algn="l" rtl="0">
              <a:lnSpc>
                <a:spcPct val="142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 sz="1400" dirty="0">
                <a:solidFill>
                  <a:schemeClr val="dk1"/>
                </a:solidFill>
              </a:rPr>
              <a:t>Park, J. S., O'Brien, J. C., Cai, C. J., Morris, M. R., Liang, P., &amp; Bernstein, M. S. (2023). </a:t>
            </a:r>
            <a:r>
              <a:rPr lang="en" sz="1400" i="1" dirty="0">
                <a:solidFill>
                  <a:schemeClr val="dk1"/>
                </a:solidFill>
              </a:rPr>
              <a:t>Generative agents: Interactive simulacra of human behavior</a:t>
            </a:r>
            <a:r>
              <a:rPr lang="en" sz="1400" dirty="0">
                <a:solidFill>
                  <a:schemeClr val="dk1"/>
                </a:solidFill>
              </a:rPr>
              <a:t> (arXiv:2304.03442). arXiv. </a:t>
            </a:r>
            <a:r>
              <a:rPr lang="en" sz="1400" u="sng" dirty="0">
                <a:solidFill>
                  <a:srgbClr val="0000FF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https://arxiv.org/abs/2304.03442</a:t>
            </a:r>
            <a:r>
              <a:rPr lang="en" sz="1400" dirty="0">
                <a:solidFill>
                  <a:srgbClr val="0000FF"/>
                </a:solidFill>
              </a:rPr>
              <a:t> </a:t>
            </a:r>
            <a:endParaRPr sz="1400" u="sng" dirty="0">
              <a:solidFill>
                <a:srgbClr val="0000F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9" name="Google Shape;139;g3d83d978854_4_3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10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555555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415</TotalTime>
  <Words>757</Words>
  <Application>Microsoft Office PowerPoint</Application>
  <PresentationFormat>On-screen Show (16:9)</PresentationFormat>
  <Paragraphs>116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2" baseType="lpstr">
      <vt:lpstr>Arial</vt:lpstr>
      <vt:lpstr>Simple Light</vt:lpstr>
      <vt:lpstr>Response Curves and Action Inertia in Utility-Based NPC Agents</vt:lpstr>
      <vt:lpstr>The Overall Project Scope and Objectives</vt:lpstr>
      <vt:lpstr>Proposed Methodology and Technical Approach</vt:lpstr>
      <vt:lpstr>Expected Challenges and Risks</vt:lpstr>
      <vt:lpstr>Review of Existing Work in this Area</vt:lpstr>
      <vt:lpstr>How Our Approach Addresses Limitations of Existing Models </vt:lpstr>
      <vt:lpstr>Potential Improvements over Current Techniques</vt:lpstr>
      <vt:lpstr>Pilot Testing and Findings</vt:lpstr>
      <vt:lpstr>A Tentative Timeline for Completion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Jiang, Wenjie</cp:lastModifiedBy>
  <cp:revision>9</cp:revision>
  <dcterms:modified xsi:type="dcterms:W3CDTF">2026-08-07T18:36:24Z</dcterms:modified>
</cp:coreProperties>
</file>